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over-course">
            <a:extLst>
              <a:ext uri="{FF2B5EF4-FFF2-40B4-BE49-F238E27FC236}">
                <a16:creationId xmlns:a16="http://schemas.microsoft.com/office/drawing/2014/main" id="{6F0CCA56-45F5-4B9A-BA17-616271C29586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4953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ADVANCED MACHINE LEARNING FOR PHYSICS</a:t>
            </a:r>
          </a:p>
        </p:txBody>
      </p:sp>
      <p:sp>
        <p:nvSpPr>
          <p:cNvPr id="2" name="cover-topic">
            <a:extLst>
              <a:ext uri="{FF2B5EF4-FFF2-40B4-BE49-F238E27FC236}">
                <a16:creationId xmlns:a16="http://schemas.microsoft.com/office/drawing/2014/main" id="{6F12B367-04DA-4D6F-9AC6-BEED36203B43}"/>
              </a:ext>
            </a:extLst>
          </p:cNvPr>
          <p:cNvSpPr>
            <a:spLocks noGrp="1"/>
          </p:cNvSpPr>
          <p:nvPr/>
        </p:nvSpPr>
        <p:spPr>
          <a:xfrm>
            <a:off x="9334500" y="419100"/>
            <a:ext cx="238125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125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INTRODUCTION</a:t>
            </a:r>
          </a:p>
        </p:txBody>
      </p:sp>
      <p:sp>
        <p:nvSpPr>
          <p:cNvPr id="3" name="cover-rule">
            <a:extLst>
              <a:ext uri="{FF2B5EF4-FFF2-40B4-BE49-F238E27FC236}">
                <a16:creationId xmlns:a16="http://schemas.microsoft.com/office/drawing/2014/main" id="{6E835DEE-08EC-45D2-A224-303E07DE15CD}"/>
              </a:ext>
            </a:extLst>
          </p:cNvPr>
          <p:cNvSpPr>
            <a:spLocks noGrp="1"/>
          </p:cNvSpPr>
          <p:nvPr/>
        </p:nvSpPr>
        <p:spPr>
          <a:xfrm>
            <a:off x="514350" y="857250"/>
            <a:ext cx="112014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E1AFD674-BFCF-4C57-95E0-1F1F42300FFA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7429500" cy="2247900"/>
          </a:xfrm>
          <a:prstGeom prst="rect">
            <a:avLst/>
          </a:prstGeom>
        </p:spPr>
        <p:txBody>
          <a:bodyPr lIns="0" tIns="0" rIns="0" bIns="0" anchor="ctr">
            <a:normAutofit fontScale="94551" lnSpcReduction="10000"/>
          </a:bodyPr>
          <a:lstStyle/>
          <a:p>
            <a:pPr algn="l">
              <a:buNone/>
              <a:defRPr sz="3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Machine Learning-Assisted
Optimization in High-Dimensional
Complex Landscapes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5E72BEBC-721D-41C0-B2B7-2B61D9EBDBD7}"/>
              </a:ext>
            </a:extLst>
          </p:cNvPr>
          <p:cNvSpPr>
            <a:spLocks noGrp="1"/>
          </p:cNvSpPr>
          <p:nvPr/>
        </p:nvSpPr>
        <p:spPr>
          <a:xfrm>
            <a:off x="552450" y="3886200"/>
            <a:ext cx="6762750" cy="3619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 sz="16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Spin-glass optimization with SA, PA and Global Annealing</a:t>
            </a:r>
          </a:p>
        </p:txBody>
      </p:sp>
      <p:sp>
        <p:nvSpPr>
          <p:cNvPr id="6" name="cover-number">
            <a:extLst>
              <a:ext uri="{FF2B5EF4-FFF2-40B4-BE49-F238E27FC236}">
                <a16:creationId xmlns:a16="http://schemas.microsoft.com/office/drawing/2014/main" id="{7BFD5AD3-98B6-4089-BB08-072C0173FF1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4000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26ACAB0-00DC-4BFE-A7FE-699B7CFD0666}"/>
              </a:ext>
            </a:extLst>
          </p:cNvPr>
          <p:cNvSpPr>
            <a:spLocks noGrp="1"/>
          </p:cNvSpPr>
          <p:nvPr/>
        </p:nvSpPr>
        <p:spPr>
          <a:xfrm>
            <a:off x="8829675" y="1824038"/>
            <a:ext cx="51435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728C004-F527-4760-93E2-1C6FF8EC595E}"/>
              </a:ext>
            </a:extLst>
          </p:cNvPr>
          <p:cNvSpPr>
            <a:spLocks noGrp="1"/>
          </p:cNvSpPr>
          <p:nvPr/>
        </p:nvSpPr>
        <p:spPr>
          <a:xfrm>
            <a:off x="8815388" y="1838325"/>
            <a:ext cx="28575" cy="51435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DCDA38F-97B9-462C-9BE0-28255ECC1016}"/>
              </a:ext>
            </a:extLst>
          </p:cNvPr>
          <p:cNvSpPr>
            <a:spLocks noGrp="1"/>
          </p:cNvSpPr>
          <p:nvPr/>
        </p:nvSpPr>
        <p:spPr>
          <a:xfrm>
            <a:off x="9344025" y="18240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6090451-5790-409F-835A-E544B2A7F5E0}"/>
              </a:ext>
            </a:extLst>
          </p:cNvPr>
          <p:cNvSpPr>
            <a:spLocks noGrp="1"/>
          </p:cNvSpPr>
          <p:nvPr/>
        </p:nvSpPr>
        <p:spPr>
          <a:xfrm>
            <a:off x="9329738" y="183832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87D508E-D7F9-4295-9A4C-183E32F6CEE8}"/>
              </a:ext>
            </a:extLst>
          </p:cNvPr>
          <p:cNvSpPr>
            <a:spLocks noGrp="1"/>
          </p:cNvSpPr>
          <p:nvPr/>
        </p:nvSpPr>
        <p:spPr>
          <a:xfrm>
            <a:off x="9858375" y="18240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A02464E-C7B2-4145-AB4A-EA49819CD98C}"/>
              </a:ext>
            </a:extLst>
          </p:cNvPr>
          <p:cNvSpPr>
            <a:spLocks noGrp="1"/>
          </p:cNvSpPr>
          <p:nvPr/>
        </p:nvSpPr>
        <p:spPr>
          <a:xfrm>
            <a:off x="9844088" y="1838325"/>
            <a:ext cx="28575" cy="51435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5C53C1A-4F62-4440-9D72-7BD44EF035F9}"/>
              </a:ext>
            </a:extLst>
          </p:cNvPr>
          <p:cNvSpPr>
            <a:spLocks noGrp="1"/>
          </p:cNvSpPr>
          <p:nvPr/>
        </p:nvSpPr>
        <p:spPr>
          <a:xfrm>
            <a:off x="10372725" y="1824038"/>
            <a:ext cx="51435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F8318CA-32B8-4354-939C-68027CD9262D}"/>
              </a:ext>
            </a:extLst>
          </p:cNvPr>
          <p:cNvSpPr>
            <a:spLocks noGrp="1"/>
          </p:cNvSpPr>
          <p:nvPr/>
        </p:nvSpPr>
        <p:spPr>
          <a:xfrm>
            <a:off x="10358438" y="183832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184E285-A22C-4DA6-B5F6-F1DE945181EF}"/>
              </a:ext>
            </a:extLst>
          </p:cNvPr>
          <p:cNvSpPr>
            <a:spLocks noGrp="1"/>
          </p:cNvSpPr>
          <p:nvPr/>
        </p:nvSpPr>
        <p:spPr>
          <a:xfrm>
            <a:off x="10872788" y="1838325"/>
            <a:ext cx="28575" cy="51435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7F7179A-E900-49D8-8B54-DD3A7BC43724}"/>
              </a:ext>
            </a:extLst>
          </p:cNvPr>
          <p:cNvSpPr>
            <a:spLocks noGrp="1"/>
          </p:cNvSpPr>
          <p:nvPr/>
        </p:nvSpPr>
        <p:spPr>
          <a:xfrm>
            <a:off x="8829675" y="233838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9E981E6-50D4-41CC-928C-7778FEF77074}"/>
              </a:ext>
            </a:extLst>
          </p:cNvPr>
          <p:cNvSpPr>
            <a:spLocks noGrp="1"/>
          </p:cNvSpPr>
          <p:nvPr/>
        </p:nvSpPr>
        <p:spPr>
          <a:xfrm>
            <a:off x="8815388" y="23526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9F3C64D-6A1F-41FD-B21B-0203177AA434}"/>
              </a:ext>
            </a:extLst>
          </p:cNvPr>
          <p:cNvSpPr>
            <a:spLocks noGrp="1"/>
          </p:cNvSpPr>
          <p:nvPr/>
        </p:nvSpPr>
        <p:spPr>
          <a:xfrm>
            <a:off x="9344025" y="233838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1956FEB-9E57-4767-A7DD-9D7DB03FEDA9}"/>
              </a:ext>
            </a:extLst>
          </p:cNvPr>
          <p:cNvSpPr>
            <a:spLocks noGrp="1"/>
          </p:cNvSpPr>
          <p:nvPr/>
        </p:nvSpPr>
        <p:spPr>
          <a:xfrm>
            <a:off x="9329738" y="23526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D57A45A-3792-45B2-ADA1-E648448918C8}"/>
              </a:ext>
            </a:extLst>
          </p:cNvPr>
          <p:cNvSpPr>
            <a:spLocks noGrp="1"/>
          </p:cNvSpPr>
          <p:nvPr/>
        </p:nvSpPr>
        <p:spPr>
          <a:xfrm>
            <a:off x="9858375" y="2338388"/>
            <a:ext cx="51435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34500822-23C5-4368-8A5F-A53D003216D6}"/>
              </a:ext>
            </a:extLst>
          </p:cNvPr>
          <p:cNvSpPr>
            <a:spLocks noGrp="1"/>
          </p:cNvSpPr>
          <p:nvPr/>
        </p:nvSpPr>
        <p:spPr>
          <a:xfrm>
            <a:off x="9844088" y="23526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C8C89281-B5FB-4646-86A5-E2257F6C5382}"/>
              </a:ext>
            </a:extLst>
          </p:cNvPr>
          <p:cNvSpPr>
            <a:spLocks noGrp="1"/>
          </p:cNvSpPr>
          <p:nvPr/>
        </p:nvSpPr>
        <p:spPr>
          <a:xfrm>
            <a:off x="10372725" y="233838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243CF3A-C73C-4D2F-BC77-09B09D04A1B6}"/>
              </a:ext>
            </a:extLst>
          </p:cNvPr>
          <p:cNvSpPr>
            <a:spLocks noGrp="1"/>
          </p:cNvSpPr>
          <p:nvPr/>
        </p:nvSpPr>
        <p:spPr>
          <a:xfrm>
            <a:off x="10358438" y="23526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B49382EA-6ABD-4662-A842-0E3C92F0C0D4}"/>
              </a:ext>
            </a:extLst>
          </p:cNvPr>
          <p:cNvSpPr>
            <a:spLocks noGrp="1"/>
          </p:cNvSpPr>
          <p:nvPr/>
        </p:nvSpPr>
        <p:spPr>
          <a:xfrm>
            <a:off x="10872788" y="23526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F0E84033-5E03-4DDE-8644-305D5913723C}"/>
              </a:ext>
            </a:extLst>
          </p:cNvPr>
          <p:cNvSpPr>
            <a:spLocks noGrp="1"/>
          </p:cNvSpPr>
          <p:nvPr/>
        </p:nvSpPr>
        <p:spPr>
          <a:xfrm>
            <a:off x="8829675" y="28527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E04D5B10-CA7C-4C31-8F23-56FC4815ECE2}"/>
              </a:ext>
            </a:extLst>
          </p:cNvPr>
          <p:cNvSpPr>
            <a:spLocks noGrp="1"/>
          </p:cNvSpPr>
          <p:nvPr/>
        </p:nvSpPr>
        <p:spPr>
          <a:xfrm>
            <a:off x="8815388" y="286702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E86142B4-9EAF-4000-B4F9-D2D96364A251}"/>
              </a:ext>
            </a:extLst>
          </p:cNvPr>
          <p:cNvSpPr>
            <a:spLocks noGrp="1"/>
          </p:cNvSpPr>
          <p:nvPr/>
        </p:nvSpPr>
        <p:spPr>
          <a:xfrm>
            <a:off x="9344025" y="2852738"/>
            <a:ext cx="51435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F76019F8-5A04-426D-8F8C-81B51DB12D43}"/>
              </a:ext>
            </a:extLst>
          </p:cNvPr>
          <p:cNvSpPr>
            <a:spLocks noGrp="1"/>
          </p:cNvSpPr>
          <p:nvPr/>
        </p:nvSpPr>
        <p:spPr>
          <a:xfrm>
            <a:off x="9329738" y="2867025"/>
            <a:ext cx="28575" cy="51435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FD0128BA-A8AE-4772-A99F-40B6E52689D6}"/>
              </a:ext>
            </a:extLst>
          </p:cNvPr>
          <p:cNvSpPr>
            <a:spLocks noGrp="1"/>
          </p:cNvSpPr>
          <p:nvPr/>
        </p:nvSpPr>
        <p:spPr>
          <a:xfrm>
            <a:off x="9858375" y="28527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C7D0F7B6-074F-49E4-BDC8-2DCF13CEA273}"/>
              </a:ext>
            </a:extLst>
          </p:cNvPr>
          <p:cNvSpPr>
            <a:spLocks noGrp="1"/>
          </p:cNvSpPr>
          <p:nvPr/>
        </p:nvSpPr>
        <p:spPr>
          <a:xfrm>
            <a:off x="9844088" y="286702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763A772E-A9E7-4532-AFC7-2C9F629E7B94}"/>
              </a:ext>
            </a:extLst>
          </p:cNvPr>
          <p:cNvSpPr>
            <a:spLocks noGrp="1"/>
          </p:cNvSpPr>
          <p:nvPr/>
        </p:nvSpPr>
        <p:spPr>
          <a:xfrm>
            <a:off x="10372725" y="28527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C08CFB19-A7A4-4024-B2B6-470FC40ADFA7}"/>
              </a:ext>
            </a:extLst>
          </p:cNvPr>
          <p:cNvSpPr>
            <a:spLocks noGrp="1"/>
          </p:cNvSpPr>
          <p:nvPr/>
        </p:nvSpPr>
        <p:spPr>
          <a:xfrm>
            <a:off x="10358438" y="2867025"/>
            <a:ext cx="28575" cy="51435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C5FDBC5B-A21C-492B-854A-C63672C60444}"/>
              </a:ext>
            </a:extLst>
          </p:cNvPr>
          <p:cNvSpPr>
            <a:spLocks noGrp="1"/>
          </p:cNvSpPr>
          <p:nvPr/>
        </p:nvSpPr>
        <p:spPr>
          <a:xfrm>
            <a:off x="10872788" y="286702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568A9792-A74A-4FB4-8CFB-5C4421718A2B}"/>
              </a:ext>
            </a:extLst>
          </p:cNvPr>
          <p:cNvSpPr>
            <a:spLocks noGrp="1"/>
          </p:cNvSpPr>
          <p:nvPr/>
        </p:nvSpPr>
        <p:spPr>
          <a:xfrm>
            <a:off x="8829675" y="3367088"/>
            <a:ext cx="51435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4CE348B2-86A9-4457-9574-3FCD5D4B4DEC}"/>
              </a:ext>
            </a:extLst>
          </p:cNvPr>
          <p:cNvSpPr>
            <a:spLocks noGrp="1"/>
          </p:cNvSpPr>
          <p:nvPr/>
        </p:nvSpPr>
        <p:spPr>
          <a:xfrm>
            <a:off x="8815388" y="33813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F4182615-9621-4204-A73A-125277AE5125}"/>
              </a:ext>
            </a:extLst>
          </p:cNvPr>
          <p:cNvSpPr>
            <a:spLocks noGrp="1"/>
          </p:cNvSpPr>
          <p:nvPr/>
        </p:nvSpPr>
        <p:spPr>
          <a:xfrm>
            <a:off x="9344025" y="336708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5FD3896A-C51F-4539-9188-F8E7437EBA9C}"/>
              </a:ext>
            </a:extLst>
          </p:cNvPr>
          <p:cNvSpPr>
            <a:spLocks noGrp="1"/>
          </p:cNvSpPr>
          <p:nvPr/>
        </p:nvSpPr>
        <p:spPr>
          <a:xfrm>
            <a:off x="9329738" y="33813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A63EE395-D85A-4C58-80F8-5986A3546778}"/>
              </a:ext>
            </a:extLst>
          </p:cNvPr>
          <p:cNvSpPr>
            <a:spLocks noGrp="1"/>
          </p:cNvSpPr>
          <p:nvPr/>
        </p:nvSpPr>
        <p:spPr>
          <a:xfrm>
            <a:off x="9858375" y="336708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66C2103B-942B-4589-AF86-8B26571CE99C}"/>
              </a:ext>
            </a:extLst>
          </p:cNvPr>
          <p:cNvSpPr>
            <a:spLocks noGrp="1"/>
          </p:cNvSpPr>
          <p:nvPr/>
        </p:nvSpPr>
        <p:spPr>
          <a:xfrm>
            <a:off x="9844088" y="33813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7D91DBB3-B1CC-4014-8BE0-B2E5B848C4A3}"/>
              </a:ext>
            </a:extLst>
          </p:cNvPr>
          <p:cNvSpPr>
            <a:spLocks noGrp="1"/>
          </p:cNvSpPr>
          <p:nvPr/>
        </p:nvSpPr>
        <p:spPr>
          <a:xfrm>
            <a:off x="10372725" y="3367088"/>
            <a:ext cx="51435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C66D01ED-D39A-458F-BB4F-578F55751A51}"/>
              </a:ext>
            </a:extLst>
          </p:cNvPr>
          <p:cNvSpPr>
            <a:spLocks noGrp="1"/>
          </p:cNvSpPr>
          <p:nvPr/>
        </p:nvSpPr>
        <p:spPr>
          <a:xfrm>
            <a:off x="10358438" y="33813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F7D2ED46-583A-4039-A197-B1104DB95525}"/>
              </a:ext>
            </a:extLst>
          </p:cNvPr>
          <p:cNvSpPr>
            <a:spLocks noGrp="1"/>
          </p:cNvSpPr>
          <p:nvPr/>
        </p:nvSpPr>
        <p:spPr>
          <a:xfrm>
            <a:off x="10872788" y="3381375"/>
            <a:ext cx="28575" cy="5143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7479BAC1-31B6-4D81-AE3E-7F5E34CCD11E}"/>
              </a:ext>
            </a:extLst>
          </p:cNvPr>
          <p:cNvSpPr>
            <a:spLocks noGrp="1"/>
          </p:cNvSpPr>
          <p:nvPr/>
        </p:nvSpPr>
        <p:spPr>
          <a:xfrm>
            <a:off x="8829675" y="38814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4FBD9EC5-6C4C-467C-AE4E-9355065A5153}"/>
              </a:ext>
            </a:extLst>
          </p:cNvPr>
          <p:cNvSpPr>
            <a:spLocks noGrp="1"/>
          </p:cNvSpPr>
          <p:nvPr/>
        </p:nvSpPr>
        <p:spPr>
          <a:xfrm>
            <a:off x="9344025" y="38814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2534891E-F9FC-4070-91B2-F5F07E49682F}"/>
              </a:ext>
            </a:extLst>
          </p:cNvPr>
          <p:cNvSpPr>
            <a:spLocks noGrp="1"/>
          </p:cNvSpPr>
          <p:nvPr/>
        </p:nvSpPr>
        <p:spPr>
          <a:xfrm>
            <a:off x="9858375" y="3881438"/>
            <a:ext cx="51435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76A08B29-1555-4C77-BF6E-B674A7F1A091}"/>
              </a:ext>
            </a:extLst>
          </p:cNvPr>
          <p:cNvSpPr>
            <a:spLocks noGrp="1"/>
          </p:cNvSpPr>
          <p:nvPr/>
        </p:nvSpPr>
        <p:spPr>
          <a:xfrm>
            <a:off x="10372725" y="3881438"/>
            <a:ext cx="51435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77400CD9-9044-433C-B11E-3BBFC4771D55}"/>
              </a:ext>
            </a:extLst>
          </p:cNvPr>
          <p:cNvSpPr>
            <a:spLocks noGrp="1"/>
          </p:cNvSpPr>
          <p:nvPr/>
        </p:nvSpPr>
        <p:spPr>
          <a:xfrm>
            <a:off x="8686800" y="16954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E5BB3237-AD5F-401B-89BF-AA2532E66728}"/>
              </a:ext>
            </a:extLst>
          </p:cNvPr>
          <p:cNvSpPr>
            <a:spLocks noGrp="1"/>
          </p:cNvSpPr>
          <p:nvPr/>
        </p:nvSpPr>
        <p:spPr>
          <a:xfrm>
            <a:off x="8686800" y="16859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98C8CA0F-D7D0-4227-8BBD-9296942564E0}"/>
              </a:ext>
            </a:extLst>
          </p:cNvPr>
          <p:cNvSpPr>
            <a:spLocks noGrp="1"/>
          </p:cNvSpPr>
          <p:nvPr/>
        </p:nvSpPr>
        <p:spPr>
          <a:xfrm>
            <a:off x="9201150" y="16954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1DC22647-3D3A-4F21-98BD-FF7441C2812C}"/>
              </a:ext>
            </a:extLst>
          </p:cNvPr>
          <p:cNvSpPr>
            <a:spLocks noGrp="1"/>
          </p:cNvSpPr>
          <p:nvPr/>
        </p:nvSpPr>
        <p:spPr>
          <a:xfrm>
            <a:off x="9201150" y="16859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0106F2EC-0CCA-4FF4-8DA9-C5BC01FA4F67}"/>
              </a:ext>
            </a:extLst>
          </p:cNvPr>
          <p:cNvSpPr>
            <a:spLocks noGrp="1"/>
          </p:cNvSpPr>
          <p:nvPr/>
        </p:nvSpPr>
        <p:spPr>
          <a:xfrm>
            <a:off x="9715500" y="16954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D9285B59-5076-40B4-A9F6-1E02D7949CC2}"/>
              </a:ext>
            </a:extLst>
          </p:cNvPr>
          <p:cNvSpPr>
            <a:spLocks noGrp="1"/>
          </p:cNvSpPr>
          <p:nvPr/>
        </p:nvSpPr>
        <p:spPr>
          <a:xfrm>
            <a:off x="9715500" y="16859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3F253020-5222-4709-AC8B-8A7AE2165C59}"/>
              </a:ext>
            </a:extLst>
          </p:cNvPr>
          <p:cNvSpPr>
            <a:spLocks noGrp="1"/>
          </p:cNvSpPr>
          <p:nvPr/>
        </p:nvSpPr>
        <p:spPr>
          <a:xfrm>
            <a:off x="10229850" y="16954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EC739CF0-1744-4537-91AF-386CBBB51F32}"/>
              </a:ext>
            </a:extLst>
          </p:cNvPr>
          <p:cNvSpPr>
            <a:spLocks noGrp="1"/>
          </p:cNvSpPr>
          <p:nvPr/>
        </p:nvSpPr>
        <p:spPr>
          <a:xfrm>
            <a:off x="10229850" y="16859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AA52F283-B4A2-4BB4-9451-D584810E9A7D}"/>
              </a:ext>
            </a:extLst>
          </p:cNvPr>
          <p:cNvSpPr>
            <a:spLocks noGrp="1"/>
          </p:cNvSpPr>
          <p:nvPr/>
        </p:nvSpPr>
        <p:spPr>
          <a:xfrm>
            <a:off x="10744200" y="16954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3C47D738-0AF0-4E1B-B6C1-D5638D27891E}"/>
              </a:ext>
            </a:extLst>
          </p:cNvPr>
          <p:cNvSpPr>
            <a:spLocks noGrp="1"/>
          </p:cNvSpPr>
          <p:nvPr/>
        </p:nvSpPr>
        <p:spPr>
          <a:xfrm>
            <a:off x="10744200" y="16859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7" name="Ovale 56">
            <a:extLst>
              <a:ext uri="{FF2B5EF4-FFF2-40B4-BE49-F238E27FC236}">
                <a16:creationId xmlns:a16="http://schemas.microsoft.com/office/drawing/2014/main" id="{2B7295DC-4E3D-4B13-9568-A07DC10FF156}"/>
              </a:ext>
            </a:extLst>
          </p:cNvPr>
          <p:cNvSpPr>
            <a:spLocks noGrp="1"/>
          </p:cNvSpPr>
          <p:nvPr/>
        </p:nvSpPr>
        <p:spPr>
          <a:xfrm>
            <a:off x="8686800" y="220980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C629AB80-1CA8-463A-8078-49F43C292B00}"/>
              </a:ext>
            </a:extLst>
          </p:cNvPr>
          <p:cNvSpPr>
            <a:spLocks noGrp="1"/>
          </p:cNvSpPr>
          <p:nvPr/>
        </p:nvSpPr>
        <p:spPr>
          <a:xfrm>
            <a:off x="8686800" y="22002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9" name="Ovale 58">
            <a:extLst>
              <a:ext uri="{FF2B5EF4-FFF2-40B4-BE49-F238E27FC236}">
                <a16:creationId xmlns:a16="http://schemas.microsoft.com/office/drawing/2014/main" id="{E2E7DFCD-0068-423E-A69C-0528399B6467}"/>
              </a:ext>
            </a:extLst>
          </p:cNvPr>
          <p:cNvSpPr>
            <a:spLocks noGrp="1"/>
          </p:cNvSpPr>
          <p:nvPr/>
        </p:nvSpPr>
        <p:spPr>
          <a:xfrm>
            <a:off x="9201150" y="220980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132D7BF4-B93C-41BE-8C6D-38C396D18F08}"/>
              </a:ext>
            </a:extLst>
          </p:cNvPr>
          <p:cNvSpPr>
            <a:spLocks noGrp="1"/>
          </p:cNvSpPr>
          <p:nvPr/>
        </p:nvSpPr>
        <p:spPr>
          <a:xfrm>
            <a:off x="9201150" y="22002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14D6DC63-762C-4833-9AA6-A9802C36D65F}"/>
              </a:ext>
            </a:extLst>
          </p:cNvPr>
          <p:cNvSpPr>
            <a:spLocks noGrp="1"/>
          </p:cNvSpPr>
          <p:nvPr/>
        </p:nvSpPr>
        <p:spPr>
          <a:xfrm>
            <a:off x="9715500" y="220980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04C940D-4217-4699-840F-97C42F9141D2}"/>
              </a:ext>
            </a:extLst>
          </p:cNvPr>
          <p:cNvSpPr>
            <a:spLocks noGrp="1"/>
          </p:cNvSpPr>
          <p:nvPr/>
        </p:nvSpPr>
        <p:spPr>
          <a:xfrm>
            <a:off x="9715500" y="22002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1C677D06-7B14-4571-B3A4-911212F506CC}"/>
              </a:ext>
            </a:extLst>
          </p:cNvPr>
          <p:cNvSpPr>
            <a:spLocks noGrp="1"/>
          </p:cNvSpPr>
          <p:nvPr/>
        </p:nvSpPr>
        <p:spPr>
          <a:xfrm>
            <a:off x="10229850" y="220980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290BB1E2-9C9A-4D59-A6DB-7CC0FB44E1D3}"/>
              </a:ext>
            </a:extLst>
          </p:cNvPr>
          <p:cNvSpPr>
            <a:spLocks noGrp="1"/>
          </p:cNvSpPr>
          <p:nvPr/>
        </p:nvSpPr>
        <p:spPr>
          <a:xfrm>
            <a:off x="10229850" y="22002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65" name="Ovale 64">
            <a:extLst>
              <a:ext uri="{FF2B5EF4-FFF2-40B4-BE49-F238E27FC236}">
                <a16:creationId xmlns:a16="http://schemas.microsoft.com/office/drawing/2014/main" id="{27C098D9-2041-492C-9946-661F977DF31D}"/>
              </a:ext>
            </a:extLst>
          </p:cNvPr>
          <p:cNvSpPr>
            <a:spLocks noGrp="1"/>
          </p:cNvSpPr>
          <p:nvPr/>
        </p:nvSpPr>
        <p:spPr>
          <a:xfrm>
            <a:off x="10744200" y="220980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DBC3D1BF-79B7-474A-885C-2B3FFA7C0EB7}"/>
              </a:ext>
            </a:extLst>
          </p:cNvPr>
          <p:cNvSpPr>
            <a:spLocks noGrp="1"/>
          </p:cNvSpPr>
          <p:nvPr/>
        </p:nvSpPr>
        <p:spPr>
          <a:xfrm>
            <a:off x="10744200" y="22002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080FA766-B6A8-4868-9DC8-D13F1FAFBD38}"/>
              </a:ext>
            </a:extLst>
          </p:cNvPr>
          <p:cNvSpPr>
            <a:spLocks noGrp="1"/>
          </p:cNvSpPr>
          <p:nvPr/>
        </p:nvSpPr>
        <p:spPr>
          <a:xfrm>
            <a:off x="8686800" y="27241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CC93252B-2888-4D9C-9E69-4E6FAA47ECB2}"/>
              </a:ext>
            </a:extLst>
          </p:cNvPr>
          <p:cNvSpPr>
            <a:spLocks noGrp="1"/>
          </p:cNvSpPr>
          <p:nvPr/>
        </p:nvSpPr>
        <p:spPr>
          <a:xfrm>
            <a:off x="8686800" y="27146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E3A80342-523A-4836-A8E0-4E1186EBC8C7}"/>
              </a:ext>
            </a:extLst>
          </p:cNvPr>
          <p:cNvSpPr>
            <a:spLocks noGrp="1"/>
          </p:cNvSpPr>
          <p:nvPr/>
        </p:nvSpPr>
        <p:spPr>
          <a:xfrm>
            <a:off x="9201150" y="27241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174A60ED-3035-45AB-A8E5-4FB569F75A76}"/>
              </a:ext>
            </a:extLst>
          </p:cNvPr>
          <p:cNvSpPr>
            <a:spLocks noGrp="1"/>
          </p:cNvSpPr>
          <p:nvPr/>
        </p:nvSpPr>
        <p:spPr>
          <a:xfrm>
            <a:off x="9201150" y="27146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C2B411A3-262D-4F54-B301-C5BDCE75897E}"/>
              </a:ext>
            </a:extLst>
          </p:cNvPr>
          <p:cNvSpPr>
            <a:spLocks noGrp="1"/>
          </p:cNvSpPr>
          <p:nvPr/>
        </p:nvSpPr>
        <p:spPr>
          <a:xfrm>
            <a:off x="9715500" y="27241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Rettangolo 71">
            <a:extLst>
              <a:ext uri="{FF2B5EF4-FFF2-40B4-BE49-F238E27FC236}">
                <a16:creationId xmlns:a16="http://schemas.microsoft.com/office/drawing/2014/main" id="{0BB6B753-B00D-406A-926E-51599A601753}"/>
              </a:ext>
            </a:extLst>
          </p:cNvPr>
          <p:cNvSpPr>
            <a:spLocks noGrp="1"/>
          </p:cNvSpPr>
          <p:nvPr/>
        </p:nvSpPr>
        <p:spPr>
          <a:xfrm>
            <a:off x="9715500" y="27146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37078310-9143-44F8-9160-7A39380827B8}"/>
              </a:ext>
            </a:extLst>
          </p:cNvPr>
          <p:cNvSpPr>
            <a:spLocks noGrp="1"/>
          </p:cNvSpPr>
          <p:nvPr/>
        </p:nvSpPr>
        <p:spPr>
          <a:xfrm>
            <a:off x="10229850" y="27241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875A4DE2-8A99-4507-A684-91FC467D5F22}"/>
              </a:ext>
            </a:extLst>
          </p:cNvPr>
          <p:cNvSpPr>
            <a:spLocks noGrp="1"/>
          </p:cNvSpPr>
          <p:nvPr/>
        </p:nvSpPr>
        <p:spPr>
          <a:xfrm>
            <a:off x="10229850" y="27146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6A3BE0A0-7B31-41F5-A7F2-5F5C725B8C3F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4EC186A1-B571-4639-AD7B-8A5BAF14AF7A}"/>
              </a:ext>
            </a:extLst>
          </p:cNvPr>
          <p:cNvSpPr>
            <a:spLocks noGrp="1"/>
          </p:cNvSpPr>
          <p:nvPr/>
        </p:nvSpPr>
        <p:spPr>
          <a:xfrm>
            <a:off x="10744200" y="27146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1A8DE2CA-4423-43CD-A756-1328D3982774}"/>
              </a:ext>
            </a:extLst>
          </p:cNvPr>
          <p:cNvSpPr>
            <a:spLocks noGrp="1"/>
          </p:cNvSpPr>
          <p:nvPr/>
        </p:nvSpPr>
        <p:spPr>
          <a:xfrm>
            <a:off x="8686800" y="323850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29D8920A-C74E-4D91-B4D6-20618B89635E}"/>
              </a:ext>
            </a:extLst>
          </p:cNvPr>
          <p:cNvSpPr>
            <a:spLocks noGrp="1"/>
          </p:cNvSpPr>
          <p:nvPr/>
        </p:nvSpPr>
        <p:spPr>
          <a:xfrm>
            <a:off x="8686800" y="3228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FC34C0C4-ADE3-406C-B9EE-A2413EF083F4}"/>
              </a:ext>
            </a:extLst>
          </p:cNvPr>
          <p:cNvSpPr>
            <a:spLocks noGrp="1"/>
          </p:cNvSpPr>
          <p:nvPr/>
        </p:nvSpPr>
        <p:spPr>
          <a:xfrm>
            <a:off x="9201150" y="323850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2782CB1E-E6C8-456F-AA48-DE9F1FEAC7EF}"/>
              </a:ext>
            </a:extLst>
          </p:cNvPr>
          <p:cNvSpPr>
            <a:spLocks noGrp="1"/>
          </p:cNvSpPr>
          <p:nvPr/>
        </p:nvSpPr>
        <p:spPr>
          <a:xfrm>
            <a:off x="9201150" y="3228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1" name="Ovale 80">
            <a:extLst>
              <a:ext uri="{FF2B5EF4-FFF2-40B4-BE49-F238E27FC236}">
                <a16:creationId xmlns:a16="http://schemas.microsoft.com/office/drawing/2014/main" id="{8DA0393A-5E6E-47AA-8F83-904DAE497CD9}"/>
              </a:ext>
            </a:extLst>
          </p:cNvPr>
          <p:cNvSpPr>
            <a:spLocks noGrp="1"/>
          </p:cNvSpPr>
          <p:nvPr/>
        </p:nvSpPr>
        <p:spPr>
          <a:xfrm>
            <a:off x="9715500" y="323850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E69D812E-6A64-47D9-83A7-0F9CCE551BC0}"/>
              </a:ext>
            </a:extLst>
          </p:cNvPr>
          <p:cNvSpPr>
            <a:spLocks noGrp="1"/>
          </p:cNvSpPr>
          <p:nvPr/>
        </p:nvSpPr>
        <p:spPr>
          <a:xfrm>
            <a:off x="9715500" y="3228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80946163-14B1-492C-A04F-CBEC252272C5}"/>
              </a:ext>
            </a:extLst>
          </p:cNvPr>
          <p:cNvSpPr>
            <a:spLocks noGrp="1"/>
          </p:cNvSpPr>
          <p:nvPr/>
        </p:nvSpPr>
        <p:spPr>
          <a:xfrm>
            <a:off x="10229850" y="323850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33064C4A-ED23-4ED2-9AC6-3358BC5517F0}"/>
              </a:ext>
            </a:extLst>
          </p:cNvPr>
          <p:cNvSpPr>
            <a:spLocks noGrp="1"/>
          </p:cNvSpPr>
          <p:nvPr/>
        </p:nvSpPr>
        <p:spPr>
          <a:xfrm>
            <a:off x="10229850" y="3228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5" name="Ovale 84">
            <a:extLst>
              <a:ext uri="{FF2B5EF4-FFF2-40B4-BE49-F238E27FC236}">
                <a16:creationId xmlns:a16="http://schemas.microsoft.com/office/drawing/2014/main" id="{B9AD1221-2F11-440E-B0B6-5D8369411C3E}"/>
              </a:ext>
            </a:extLst>
          </p:cNvPr>
          <p:cNvSpPr>
            <a:spLocks noGrp="1"/>
          </p:cNvSpPr>
          <p:nvPr/>
        </p:nvSpPr>
        <p:spPr>
          <a:xfrm>
            <a:off x="10744200" y="323850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130D4A50-561D-483B-BE9E-37167633F505}"/>
              </a:ext>
            </a:extLst>
          </p:cNvPr>
          <p:cNvSpPr>
            <a:spLocks noGrp="1"/>
          </p:cNvSpPr>
          <p:nvPr/>
        </p:nvSpPr>
        <p:spPr>
          <a:xfrm>
            <a:off x="10744200" y="3228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7" name="Ovale 86">
            <a:extLst>
              <a:ext uri="{FF2B5EF4-FFF2-40B4-BE49-F238E27FC236}">
                <a16:creationId xmlns:a16="http://schemas.microsoft.com/office/drawing/2014/main" id="{2063813C-7F3D-482C-A909-55E62391778F}"/>
              </a:ext>
            </a:extLst>
          </p:cNvPr>
          <p:cNvSpPr>
            <a:spLocks noGrp="1"/>
          </p:cNvSpPr>
          <p:nvPr/>
        </p:nvSpPr>
        <p:spPr>
          <a:xfrm>
            <a:off x="8686800" y="37528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ttangolo 87">
            <a:extLst>
              <a:ext uri="{FF2B5EF4-FFF2-40B4-BE49-F238E27FC236}">
                <a16:creationId xmlns:a16="http://schemas.microsoft.com/office/drawing/2014/main" id="{D30DAF7E-9FD0-4483-955E-261B7F22E2FA}"/>
              </a:ext>
            </a:extLst>
          </p:cNvPr>
          <p:cNvSpPr>
            <a:spLocks noGrp="1"/>
          </p:cNvSpPr>
          <p:nvPr/>
        </p:nvSpPr>
        <p:spPr>
          <a:xfrm>
            <a:off x="8686800" y="37433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9" name="Ovale 88">
            <a:extLst>
              <a:ext uri="{FF2B5EF4-FFF2-40B4-BE49-F238E27FC236}">
                <a16:creationId xmlns:a16="http://schemas.microsoft.com/office/drawing/2014/main" id="{24A52BE9-6872-4787-BD32-753A3D8DAD43}"/>
              </a:ext>
            </a:extLst>
          </p:cNvPr>
          <p:cNvSpPr>
            <a:spLocks noGrp="1"/>
          </p:cNvSpPr>
          <p:nvPr/>
        </p:nvSpPr>
        <p:spPr>
          <a:xfrm>
            <a:off x="9201150" y="37528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Rettangolo 89">
            <a:extLst>
              <a:ext uri="{FF2B5EF4-FFF2-40B4-BE49-F238E27FC236}">
                <a16:creationId xmlns:a16="http://schemas.microsoft.com/office/drawing/2014/main" id="{9B4A63F2-73C3-40A0-A29F-DDC7013B7F5B}"/>
              </a:ext>
            </a:extLst>
          </p:cNvPr>
          <p:cNvSpPr>
            <a:spLocks noGrp="1"/>
          </p:cNvSpPr>
          <p:nvPr/>
        </p:nvSpPr>
        <p:spPr>
          <a:xfrm>
            <a:off x="9201150" y="37433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1" name="Ovale 90">
            <a:extLst>
              <a:ext uri="{FF2B5EF4-FFF2-40B4-BE49-F238E27FC236}">
                <a16:creationId xmlns:a16="http://schemas.microsoft.com/office/drawing/2014/main" id="{05F6DAEC-0CCC-4830-8D8B-0741BD336A48}"/>
              </a:ext>
            </a:extLst>
          </p:cNvPr>
          <p:cNvSpPr>
            <a:spLocks noGrp="1"/>
          </p:cNvSpPr>
          <p:nvPr/>
        </p:nvSpPr>
        <p:spPr>
          <a:xfrm>
            <a:off x="9715500" y="37528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ttangolo 91">
            <a:extLst>
              <a:ext uri="{FF2B5EF4-FFF2-40B4-BE49-F238E27FC236}">
                <a16:creationId xmlns:a16="http://schemas.microsoft.com/office/drawing/2014/main" id="{A1B7ECD4-E718-485E-8074-4483DAE43389}"/>
              </a:ext>
            </a:extLst>
          </p:cNvPr>
          <p:cNvSpPr>
            <a:spLocks noGrp="1"/>
          </p:cNvSpPr>
          <p:nvPr/>
        </p:nvSpPr>
        <p:spPr>
          <a:xfrm>
            <a:off x="9715500" y="37433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41A85346-7AF7-49DC-AF1C-B6A3CBCCD60F}"/>
              </a:ext>
            </a:extLst>
          </p:cNvPr>
          <p:cNvSpPr>
            <a:spLocks noGrp="1"/>
          </p:cNvSpPr>
          <p:nvPr/>
        </p:nvSpPr>
        <p:spPr>
          <a:xfrm>
            <a:off x="10229850" y="3752850"/>
            <a:ext cx="285750" cy="28575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612BF368-72FF-472C-8ABD-04A14D10DC4F}"/>
              </a:ext>
            </a:extLst>
          </p:cNvPr>
          <p:cNvSpPr>
            <a:spLocks noGrp="1"/>
          </p:cNvSpPr>
          <p:nvPr/>
        </p:nvSpPr>
        <p:spPr>
          <a:xfrm>
            <a:off x="10229850" y="37433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5" name="Ovale 94">
            <a:extLst>
              <a:ext uri="{FF2B5EF4-FFF2-40B4-BE49-F238E27FC236}">
                <a16:creationId xmlns:a16="http://schemas.microsoft.com/office/drawing/2014/main" id="{3F28F145-FD81-44A3-A921-11A3CD75B662}"/>
              </a:ext>
            </a:extLst>
          </p:cNvPr>
          <p:cNvSpPr>
            <a:spLocks noGrp="1"/>
          </p:cNvSpPr>
          <p:nvPr/>
        </p:nvSpPr>
        <p:spPr>
          <a:xfrm>
            <a:off x="10744200" y="37528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Rettangolo 95">
            <a:extLst>
              <a:ext uri="{FF2B5EF4-FFF2-40B4-BE49-F238E27FC236}">
                <a16:creationId xmlns:a16="http://schemas.microsoft.com/office/drawing/2014/main" id="{4B07B528-9E82-4F9A-91DB-CF99853D4BCB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7" name="Rettangolo 96">
            <a:extLst>
              <a:ext uri="{FF2B5EF4-FFF2-40B4-BE49-F238E27FC236}">
                <a16:creationId xmlns:a16="http://schemas.microsoft.com/office/drawing/2014/main" id="{030AD33D-879C-4D42-9ADB-66A684892A2A}"/>
              </a:ext>
            </a:extLst>
          </p:cNvPr>
          <p:cNvSpPr>
            <a:spLocks noGrp="1"/>
          </p:cNvSpPr>
          <p:nvPr/>
        </p:nvSpPr>
        <p:spPr>
          <a:xfrm>
            <a:off x="552450" y="5010150"/>
            <a:ext cx="6477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Flavio Massimiliano Ricci</a:t>
            </a: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Assiem</a:t>
            </a:r>
            <a:r>
              <a:rPr sz="1350" b="0" i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Vigiani</a:t>
            </a:r>
            <a:endParaRPr sz="1350" b="0" i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0000"/>
              </a:lnSpc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Friedrich Rauno Zander</a:t>
            </a:r>
          </a:p>
        </p:txBody>
      </p:sp>
    </p:spTree>
    <p:extLst>
      <p:ext uri="{BB962C8B-B14F-4D97-AF65-F5344CB8AC3E}">
        <p14:creationId xmlns:p14="http://schemas.microsoft.com/office/powerpoint/2010/main" val="9779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2-title-accent">
            <a:extLst>
              <a:ext uri="{FF2B5EF4-FFF2-40B4-BE49-F238E27FC236}">
                <a16:creationId xmlns:a16="http://schemas.microsoft.com/office/drawing/2014/main" id="{865D05AD-F7EA-40A2-87C3-822674315C4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2-title">
            <a:extLst>
              <a:ext uri="{FF2B5EF4-FFF2-40B4-BE49-F238E27FC236}">
                <a16:creationId xmlns:a16="http://schemas.microsoft.com/office/drawing/2014/main" id="{546BD446-DCBA-4F22-A255-235C80DE75C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Can ML navigate a spin-glass energy landscape?</a:t>
            </a:r>
          </a:p>
        </p:txBody>
      </p:sp>
      <p:sp>
        <p:nvSpPr>
          <p:cNvPr id="3" name="slide-2-topic-background">
            <a:extLst>
              <a:ext uri="{FF2B5EF4-FFF2-40B4-BE49-F238E27FC236}">
                <a16:creationId xmlns:a16="http://schemas.microsoft.com/office/drawing/2014/main" id="{3591726D-0572-49A3-8B08-020B1FF4CCD5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2-topic">
            <a:extLst>
              <a:ext uri="{FF2B5EF4-FFF2-40B4-BE49-F238E27FC236}">
                <a16:creationId xmlns:a16="http://schemas.microsoft.com/office/drawing/2014/main" id="{F2812D86-C956-44E7-AE0D-25D2D86A6D9C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INTRODUCTION</a:t>
            </a:r>
          </a:p>
        </p:txBody>
      </p:sp>
      <p:sp>
        <p:nvSpPr>
          <p:cNvPr id="5" name="slide-2-header-rule">
            <a:extLst>
              <a:ext uri="{FF2B5EF4-FFF2-40B4-BE49-F238E27FC236}">
                <a16:creationId xmlns:a16="http://schemas.microsoft.com/office/drawing/2014/main" id="{6A841FE1-C635-429A-9889-F8E509201519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2-number">
            <a:extLst>
              <a:ext uri="{FF2B5EF4-FFF2-40B4-BE49-F238E27FC236}">
                <a16:creationId xmlns:a16="http://schemas.microsoft.com/office/drawing/2014/main" id="{2FD9D75F-CCCB-4609-95FE-11F38F694A2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A480125-F102-4B1C-9173-2ACDE508AA51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607595D-8383-4B95-AAAA-A06CF9C4F8A1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4476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Find the ground state of a frustrated Ising spin glass.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9C269A5-4F48-4E4E-894E-3205F958F6EC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4476750" cy="742950"/>
          </a:xfrm>
          <a:prstGeom prst="roundRect">
            <a:avLst>
              <a:gd name="adj" fmla="val 10256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5691180-2165-4922-A0D3-3A9AD78BEB37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667"/>
          </a:bodyPr>
          <a:lstStyle/>
          <a:p>
            <a:pPr algn="ctr">
              <a:lnSpc>
                <a:spcPct val="100000"/>
              </a:lnSpc>
              <a:buNone/>
              <a:defRPr sz="18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2ᴺ configurations  ·  many metastable minima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E776ADA-B0B3-4B74-A2CC-ECBA72A86000}"/>
              </a:ext>
            </a:extLst>
          </p:cNvPr>
          <p:cNvSpPr>
            <a:spLocks noGrp="1"/>
          </p:cNvSpPr>
          <p:nvPr/>
        </p:nvSpPr>
        <p:spPr>
          <a:xfrm>
            <a:off x="5467350" y="1485900"/>
            <a:ext cx="9525" cy="4286250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8EF2214-4954-41A1-9C98-B789D9DA0901}"/>
              </a:ext>
            </a:extLst>
          </p:cNvPr>
          <p:cNvSpPr>
            <a:spLocks noGrp="1"/>
          </p:cNvSpPr>
          <p:nvPr/>
        </p:nvSpPr>
        <p:spPr>
          <a:xfrm>
            <a:off x="5867400" y="1714500"/>
            <a:ext cx="152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8C2EF93-3F96-4603-8528-3D20C7693956}"/>
              </a:ext>
            </a:extLst>
          </p:cNvPr>
          <p:cNvSpPr>
            <a:spLocks noGrp="1"/>
          </p:cNvSpPr>
          <p:nvPr/>
        </p:nvSpPr>
        <p:spPr>
          <a:xfrm>
            <a:off x="6134100" y="2476500"/>
            <a:ext cx="990600" cy="47625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EF30C1E-5CC3-4FF0-9484-4A946DD3FFA9}"/>
              </a:ext>
            </a:extLst>
          </p:cNvPr>
          <p:cNvSpPr>
            <a:spLocks noGrp="1"/>
          </p:cNvSpPr>
          <p:nvPr/>
        </p:nvSpPr>
        <p:spPr>
          <a:xfrm>
            <a:off x="5867400" y="27813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moves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F975409-8B1E-4BAB-A1AD-ACC105DDB79E}"/>
              </a:ext>
            </a:extLst>
          </p:cNvPr>
          <p:cNvSpPr>
            <a:spLocks noGrp="1"/>
          </p:cNvSpPr>
          <p:nvPr/>
        </p:nvSpPr>
        <p:spPr>
          <a:xfrm>
            <a:off x="7810500" y="1714500"/>
            <a:ext cx="152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C43131"/>
                </a:solidFill>
                <a:latin typeface="Arial"/>
                <a:ea typeface="Arial"/>
                <a:cs typeface="Arial"/>
              </a:rPr>
              <a:t>PA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01C1B2F-AC82-4153-9EBE-57E0E797599E}"/>
              </a:ext>
            </a:extLst>
          </p:cNvPr>
          <p:cNvSpPr>
            <a:spLocks noGrp="1"/>
          </p:cNvSpPr>
          <p:nvPr/>
        </p:nvSpPr>
        <p:spPr>
          <a:xfrm>
            <a:off x="8077200" y="2476500"/>
            <a:ext cx="990600" cy="4762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F3BFE65-80BA-4458-B4F4-283FA0D06BD5}"/>
              </a:ext>
            </a:extLst>
          </p:cNvPr>
          <p:cNvSpPr>
            <a:spLocks noGrp="1"/>
          </p:cNvSpPr>
          <p:nvPr/>
        </p:nvSpPr>
        <p:spPr>
          <a:xfrm>
            <a:off x="7810500" y="27813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moves + resampling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84A2641-B16E-4638-9E68-4B5920C1D1F5}"/>
              </a:ext>
            </a:extLst>
          </p:cNvPr>
          <p:cNvSpPr>
            <a:spLocks noGrp="1"/>
          </p:cNvSpPr>
          <p:nvPr/>
        </p:nvSpPr>
        <p:spPr>
          <a:xfrm>
            <a:off x="9753600" y="1714500"/>
            <a:ext cx="152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GA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E7DB918-B846-4252-B768-0B1F68D63FC8}"/>
              </a:ext>
            </a:extLst>
          </p:cNvPr>
          <p:cNvSpPr>
            <a:spLocks noGrp="1"/>
          </p:cNvSpPr>
          <p:nvPr/>
        </p:nvSpPr>
        <p:spPr>
          <a:xfrm>
            <a:off x="10020300" y="2476500"/>
            <a:ext cx="990600" cy="4762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99DA1C9-91F9-42F9-B52E-56FC8E958990}"/>
              </a:ext>
            </a:extLst>
          </p:cNvPr>
          <p:cNvSpPr>
            <a:spLocks noGrp="1"/>
          </p:cNvSpPr>
          <p:nvPr/>
        </p:nvSpPr>
        <p:spPr>
          <a:xfrm>
            <a:off x="9753600" y="27813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+ MADE global moves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3C47D2-730F-4900-AB7F-C6D2DC515FB5}"/>
              </a:ext>
            </a:extLst>
          </p:cNvPr>
          <p:cNvSpPr>
            <a:spLocks noGrp="1"/>
          </p:cNvSpPr>
          <p:nvPr/>
        </p:nvSpPr>
        <p:spPr>
          <a:xfrm>
            <a:off x="6048375" y="43243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Same population size, GPU implementation, and temperature schedule.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59605979-69CC-4C00-ADA8-6FEC4B609462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D825405-DCD4-4BEB-8E4E-9DED55B446EC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586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-3-title-accent">
            <a:extLst>
              <a:ext uri="{FF2B5EF4-FFF2-40B4-BE49-F238E27FC236}">
                <a16:creationId xmlns:a16="http://schemas.microsoft.com/office/drawing/2014/main" id="{D340FEA9-3A21-49AD-9DC5-006D239B23C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3-title">
            <a:extLst>
              <a:ext uri="{FF2B5EF4-FFF2-40B4-BE49-F238E27FC236}">
                <a16:creationId xmlns:a16="http://schemas.microsoft.com/office/drawing/2014/main" id="{57804A32-EA17-4674-853A-644EACAEDFDF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Index</a:t>
            </a:r>
          </a:p>
        </p:txBody>
      </p:sp>
      <p:sp>
        <p:nvSpPr>
          <p:cNvPr id="3" name="slide-3-topic-background">
            <a:extLst>
              <a:ext uri="{FF2B5EF4-FFF2-40B4-BE49-F238E27FC236}">
                <a16:creationId xmlns:a16="http://schemas.microsoft.com/office/drawing/2014/main" id="{1814E4A8-447B-4747-8F1B-416E748E005E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3-topic">
            <a:extLst>
              <a:ext uri="{FF2B5EF4-FFF2-40B4-BE49-F238E27FC236}">
                <a16:creationId xmlns:a16="http://schemas.microsoft.com/office/drawing/2014/main" id="{A14D6317-C3D0-4641-9F3A-9D5E66F04930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INTRODUCTION</a:t>
            </a:r>
          </a:p>
        </p:txBody>
      </p:sp>
      <p:sp>
        <p:nvSpPr>
          <p:cNvPr id="5" name="slide-3-header-rule">
            <a:extLst>
              <a:ext uri="{FF2B5EF4-FFF2-40B4-BE49-F238E27FC236}">
                <a16:creationId xmlns:a16="http://schemas.microsoft.com/office/drawing/2014/main" id="{636AB5FE-D426-4777-B0A1-3C2EB5D6803D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3-number">
            <a:extLst>
              <a:ext uri="{FF2B5EF4-FFF2-40B4-BE49-F238E27FC236}">
                <a16:creationId xmlns:a16="http://schemas.microsoft.com/office/drawing/2014/main" id="{DA587289-EE2B-433D-A42E-8E1DB5D8672C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899A4AF-5751-4ED4-B36C-13B643BB2D10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26A900A-3391-4BCA-BB92-E26E2991B630}"/>
              </a:ext>
            </a:extLst>
          </p:cNvPr>
          <p:cNvSpPr>
            <a:spLocks noGrp="1"/>
          </p:cNvSpPr>
          <p:nvPr/>
        </p:nvSpPr>
        <p:spPr>
          <a:xfrm>
            <a:off x="1200150" y="13811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D9A2568-FE74-4141-9049-F4CAE85DFB07}"/>
              </a:ext>
            </a:extLst>
          </p:cNvPr>
          <p:cNvSpPr>
            <a:spLocks noGrp="1"/>
          </p:cNvSpPr>
          <p:nvPr/>
        </p:nvSpPr>
        <p:spPr>
          <a:xfrm>
            <a:off x="4953000" y="13811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Question and benchmark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622570F-4531-4C8C-8597-C28137843D4B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10680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4D37308-74D3-4B11-AE5D-160D182B13E4}"/>
              </a:ext>
            </a:extLst>
          </p:cNvPr>
          <p:cNvSpPr>
            <a:spLocks noGrp="1"/>
          </p:cNvSpPr>
          <p:nvPr/>
        </p:nvSpPr>
        <p:spPr>
          <a:xfrm>
            <a:off x="552450" y="19621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92B532E-F490-47F1-B65F-6A7AB8FE5DE0}"/>
              </a:ext>
            </a:extLst>
          </p:cNvPr>
          <p:cNvSpPr>
            <a:spLocks noGrp="1"/>
          </p:cNvSpPr>
          <p:nvPr/>
        </p:nvSpPr>
        <p:spPr>
          <a:xfrm>
            <a:off x="1200150" y="19621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Problem &amp; model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D6A86ED-7CF7-4325-823A-64F9443C657A}"/>
              </a:ext>
            </a:extLst>
          </p:cNvPr>
          <p:cNvSpPr>
            <a:spLocks noGrp="1"/>
          </p:cNvSpPr>
          <p:nvPr/>
        </p:nvSpPr>
        <p:spPr>
          <a:xfrm>
            <a:off x="4953000" y="19621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Edwards–Anderson energy and Gibbs </a:t>
            </a: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4C7002A-2C92-4582-930A-5B3FC66E63CA}"/>
              </a:ext>
            </a:extLst>
          </p:cNvPr>
          <p:cNvSpPr>
            <a:spLocks noGrp="1"/>
          </p:cNvSpPr>
          <p:nvPr/>
        </p:nvSpPr>
        <p:spPr>
          <a:xfrm>
            <a:off x="552450" y="2466975"/>
            <a:ext cx="110680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1A78554-8EB8-4FA2-BC30-E964A26D8FB3}"/>
              </a:ext>
            </a:extLst>
          </p:cNvPr>
          <p:cNvSpPr>
            <a:spLocks noGrp="1"/>
          </p:cNvSpPr>
          <p:nvPr/>
        </p:nvSpPr>
        <p:spPr>
          <a:xfrm>
            <a:off x="552450" y="2543175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F7BF037-0438-47FA-ABE1-DE4EB3730A61}"/>
              </a:ext>
            </a:extLst>
          </p:cNvPr>
          <p:cNvSpPr>
            <a:spLocks noGrp="1"/>
          </p:cNvSpPr>
          <p:nvPr/>
        </p:nvSpPr>
        <p:spPr>
          <a:xfrm>
            <a:off x="1200150" y="25431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Monte Carlo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CB69222-4E7F-4E1D-AA94-F4FD82A62941}"/>
              </a:ext>
            </a:extLst>
          </p:cNvPr>
          <p:cNvSpPr>
            <a:spLocks noGrp="1"/>
          </p:cNvSpPr>
          <p:nvPr/>
        </p:nvSpPr>
        <p:spPr>
          <a:xfrm>
            <a:off x="4953000" y="25431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Acceptance, checkerboard and schedule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3A5F124-2FD9-4639-A0BE-43062ABECB4F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110680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4155129-166D-4411-9A46-942C06BC94CF}"/>
              </a:ext>
            </a:extLst>
          </p:cNvPr>
          <p:cNvSpPr>
            <a:spLocks noGrp="1"/>
          </p:cNvSpPr>
          <p:nvPr/>
        </p:nvSpPr>
        <p:spPr>
          <a:xfrm>
            <a:off x="552450" y="312420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3195A5B-B576-44BA-BC43-C18DC6EF5B33}"/>
              </a:ext>
            </a:extLst>
          </p:cNvPr>
          <p:cNvSpPr>
            <a:spLocks noGrp="1"/>
          </p:cNvSpPr>
          <p:nvPr/>
        </p:nvSpPr>
        <p:spPr>
          <a:xfrm>
            <a:off x="1200150" y="31242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Classical annealing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99CC9E91-5B67-4A91-91B6-B66439EB569E}"/>
              </a:ext>
            </a:extLst>
          </p:cNvPr>
          <p:cNvSpPr>
            <a:spLocks noGrp="1"/>
          </p:cNvSpPr>
          <p:nvPr/>
        </p:nvSpPr>
        <p:spPr>
          <a:xfrm>
            <a:off x="4953000" y="31242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Simulated and Population Annealing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B301CF10-21F0-4257-BD9B-EB492FC35A6B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110680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2F080D2D-AC3F-4009-9603-A64C86EE0A7E}"/>
              </a:ext>
            </a:extLst>
          </p:cNvPr>
          <p:cNvSpPr>
            <a:spLocks noGrp="1"/>
          </p:cNvSpPr>
          <p:nvPr/>
        </p:nvSpPr>
        <p:spPr>
          <a:xfrm>
            <a:off x="552450" y="3705225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909899D7-4E5E-4254-8C15-02DF861350AD}"/>
              </a:ext>
            </a:extLst>
          </p:cNvPr>
          <p:cNvSpPr>
            <a:spLocks noGrp="1"/>
          </p:cNvSpPr>
          <p:nvPr/>
        </p:nvSpPr>
        <p:spPr>
          <a:xfrm>
            <a:off x="1200150" y="37052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Global annealing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34C0B9E-8C1F-490D-B08C-D1212ACA4E0B}"/>
              </a:ext>
            </a:extLst>
          </p:cNvPr>
          <p:cNvSpPr>
            <a:spLocks noGrp="1"/>
          </p:cNvSpPr>
          <p:nvPr/>
        </p:nvSpPr>
        <p:spPr>
          <a:xfrm>
            <a:off x="4953000" y="37052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MADE, training, generation and MLMC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F078982-2A4D-4343-A5F2-422AE40DC673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110680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BA7699D0-89C5-40DB-9E0A-A1803DBEE27E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B7D7AD5E-E1E4-4267-B9EA-0352F6D915D3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Optimization results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BFA9FAB1-22F9-44C6-A75C-D4614D51EBBB}"/>
              </a:ext>
            </a:extLst>
          </p:cNvPr>
          <p:cNvSpPr>
            <a:spLocks noGrp="1"/>
          </p:cNvSpPr>
          <p:nvPr/>
        </p:nvSpPr>
        <p:spPr>
          <a:xfrm>
            <a:off x="4953000" y="42862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Energy-gap convergence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2FA5759-3B75-4D55-9447-AF60344D3BEA}"/>
              </a:ext>
            </a:extLst>
          </p:cNvPr>
          <p:cNvSpPr>
            <a:spLocks noGrp="1"/>
          </p:cNvSpPr>
          <p:nvPr/>
        </p:nvSpPr>
        <p:spPr>
          <a:xfrm>
            <a:off x="552450" y="4791075"/>
            <a:ext cx="110680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41F645C-9B77-4AD0-9D0B-FA9BF2DE9D1B}"/>
              </a:ext>
            </a:extLst>
          </p:cNvPr>
          <p:cNvSpPr>
            <a:spLocks noGrp="1"/>
          </p:cNvSpPr>
          <p:nvPr/>
        </p:nvSpPr>
        <p:spPr>
          <a:xfrm>
            <a:off x="552450" y="4867275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D865C003-5197-4991-AD78-3EA8C84984FD}"/>
              </a:ext>
            </a:extLst>
          </p:cNvPr>
          <p:cNvSpPr>
            <a:spLocks noGrp="1"/>
          </p:cNvSpPr>
          <p:nvPr/>
        </p:nvSpPr>
        <p:spPr>
          <a:xfrm>
            <a:off x="1200150" y="48672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Fixed-T sampling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26719410-F325-410A-9FD3-D60A98C4CE24}"/>
              </a:ext>
            </a:extLst>
          </p:cNvPr>
          <p:cNvSpPr>
            <a:spLocks noGrp="1"/>
          </p:cNvSpPr>
          <p:nvPr/>
        </p:nvSpPr>
        <p:spPr>
          <a:xfrm>
            <a:off x="4953000" y="48672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Energy, overlap and measured acceptance</a:t>
            </a:r>
          </a:p>
        </p:txBody>
      </p:sp>
      <p:sp>
        <p:nvSpPr>
          <p:cNvPr id="39" name="slide-3-index-8-rule">
            <a:extLst>
              <a:ext uri="{FF2B5EF4-FFF2-40B4-BE49-F238E27FC236}">
                <a16:creationId xmlns:a16="http://schemas.microsoft.com/office/drawing/2014/main" id="{AA3DF690-12F1-4DBB-BC5C-96B1D86D8587}"/>
              </a:ext>
            </a:extLst>
          </p:cNvPr>
          <p:cNvSpPr>
            <a:spLocks noGrp="1"/>
          </p:cNvSpPr>
          <p:nvPr/>
        </p:nvSpPr>
        <p:spPr>
          <a:xfrm>
            <a:off x="552450" y="5372100"/>
            <a:ext cx="110680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lide-3-index-8-number">
            <a:extLst>
              <a:ext uri="{FF2B5EF4-FFF2-40B4-BE49-F238E27FC236}">
                <a16:creationId xmlns:a16="http://schemas.microsoft.com/office/drawing/2014/main" id="{4CF64813-9E99-4CF1-898D-2C6DD0879126}"/>
              </a:ext>
            </a:extLst>
          </p:cNvPr>
          <p:cNvSpPr>
            <a:spLocks noGrp="1"/>
          </p:cNvSpPr>
          <p:nvPr/>
        </p:nvSpPr>
        <p:spPr>
          <a:xfrm>
            <a:off x="552450" y="544830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6FE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slide-3-index-8-label">
            <a:extLst>
              <a:ext uri="{FF2B5EF4-FFF2-40B4-BE49-F238E27FC236}">
                <a16:creationId xmlns:a16="http://schemas.microsoft.com/office/drawing/2014/main" id="{FEE1F2C1-D57D-4616-AB5C-6533B1081BF8}"/>
              </a:ext>
            </a:extLst>
          </p:cNvPr>
          <p:cNvSpPr>
            <a:spLocks noGrp="1"/>
          </p:cNvSpPr>
          <p:nvPr/>
        </p:nvSpPr>
        <p:spPr>
          <a:xfrm>
            <a:off x="1200150" y="54483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SK model</a:t>
            </a:r>
          </a:p>
        </p:txBody>
      </p:sp>
      <p:sp>
        <p:nvSpPr>
          <p:cNvPr id="42" name="slide-3-index-8-detail">
            <a:extLst>
              <a:ext uri="{FF2B5EF4-FFF2-40B4-BE49-F238E27FC236}">
                <a16:creationId xmlns:a16="http://schemas.microsoft.com/office/drawing/2014/main" id="{3E65C4C9-EF82-45E6-8E09-041FEA118FB4}"/>
              </a:ext>
            </a:extLst>
          </p:cNvPr>
          <p:cNvSpPr>
            <a:spLocks noGrp="1"/>
          </p:cNvSpPr>
          <p:nvPr/>
        </p:nvSpPr>
        <p:spPr>
          <a:xfrm>
            <a:off x="4953000" y="54483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3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2"/>
                </a:solidFill>
                <a:latin typeface="Arial"/>
                <a:ea typeface="Arial"/>
                <a:cs typeface="Arial"/>
              </a:rPr>
              <a:t>Fully connected model, sequential update and results</a:t>
            </a:r>
          </a:p>
        </p:txBody>
      </p:sp>
    </p:spTree>
    <p:extLst>
      <p:ext uri="{BB962C8B-B14F-4D97-AF65-F5344CB8AC3E}">
        <p14:creationId xmlns:p14="http://schemas.microsoft.com/office/powerpoint/2010/main" val="166221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-4-title-accent">
            <a:extLst>
              <a:ext uri="{FF2B5EF4-FFF2-40B4-BE49-F238E27FC236}">
                <a16:creationId xmlns:a16="http://schemas.microsoft.com/office/drawing/2014/main" id="{D354311E-98B9-40B3-B559-8E92EF3C7B3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4-title">
            <a:extLst>
              <a:ext uri="{FF2B5EF4-FFF2-40B4-BE49-F238E27FC236}">
                <a16:creationId xmlns:a16="http://schemas.microsoft.com/office/drawing/2014/main" id="{C0FDF7ED-3EC1-4E39-ABA6-6E5E6845F53A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9564"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3D Edwards–Anderson spin glass</a:t>
            </a:r>
          </a:p>
        </p:txBody>
      </p:sp>
      <p:sp>
        <p:nvSpPr>
          <p:cNvPr id="3" name="slide-4-topic-background">
            <a:extLst>
              <a:ext uri="{FF2B5EF4-FFF2-40B4-BE49-F238E27FC236}">
                <a16:creationId xmlns:a16="http://schemas.microsoft.com/office/drawing/2014/main" id="{A5195FB5-C5C0-4F0D-AA8E-5FE26750BDD4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4-topic">
            <a:extLst>
              <a:ext uri="{FF2B5EF4-FFF2-40B4-BE49-F238E27FC236}">
                <a16:creationId xmlns:a16="http://schemas.microsoft.com/office/drawing/2014/main" id="{DEA7BC8A-78F6-4BA5-B644-8398CC964639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PROBLEM &amp; MODEL</a:t>
            </a:r>
          </a:p>
        </p:txBody>
      </p:sp>
      <p:sp>
        <p:nvSpPr>
          <p:cNvPr id="5" name="slide-4-header-rule">
            <a:extLst>
              <a:ext uri="{FF2B5EF4-FFF2-40B4-BE49-F238E27FC236}">
                <a16:creationId xmlns:a16="http://schemas.microsoft.com/office/drawing/2014/main" id="{FEC44BE6-5B2D-4C09-8A5A-AD524CD7C97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4-number">
            <a:extLst>
              <a:ext uri="{FF2B5EF4-FFF2-40B4-BE49-F238E27FC236}">
                <a16:creationId xmlns:a16="http://schemas.microsoft.com/office/drawing/2014/main" id="{3745072D-CA9A-47EA-B61D-C1220EE2AE24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8DD1A97-77D8-42AA-8130-D49B71B61180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IMPLEMENTED HAMILTONIAN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0AB7904-8BE3-464D-87B3-C11E666ED672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6000750" cy="7620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B1FC829-77F4-45C8-A370-7D37409F0A09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H(s) = −½ Σᵢⱼ Jᵢⱼ sᵢ sⱼ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F5A6A39-DA2D-4074-979D-E5DFC8AEBC8F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6000750" cy="76200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9525">
            <a:solidFill>
              <a:srgbClr val="BDD0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972FFD7-1BED-42CA-B17A-C63E1ACADB2A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sᵢ ∈ {−1,+1},   N = L³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95F8215-C822-4661-B5AC-9A612E871BA9}"/>
              </a:ext>
            </a:extLst>
          </p:cNvPr>
          <p:cNvSpPr>
            <a:spLocks noGrp="1"/>
          </p:cNvSpPr>
          <p:nvPr/>
        </p:nvSpPr>
        <p:spPr>
          <a:xfrm>
            <a:off x="552450" y="40576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GIBBS TARGET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E44A2FB-6693-4D3B-85BC-3DAF10943FCC}"/>
              </a:ext>
            </a:extLst>
          </p:cNvPr>
          <p:cNvSpPr>
            <a:spLocks noGrp="1"/>
          </p:cNvSpPr>
          <p:nvPr/>
        </p:nvSpPr>
        <p:spPr>
          <a:xfrm>
            <a:off x="457200" y="4356305"/>
            <a:ext cx="3190875" cy="819150"/>
          </a:xfrm>
          <a:prstGeom prst="roundRect">
            <a:avLst>
              <a:gd name="adj" fmla="val 9302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8EE343E-0FCF-4309-A369-1B8D8239599A}"/>
              </a:ext>
            </a:extLst>
          </p:cNvPr>
          <p:cNvSpPr>
            <a:spLocks noGrp="1"/>
          </p:cNvSpPr>
          <p:nvPr/>
        </p:nvSpPr>
        <p:spPr>
          <a:xfrm>
            <a:off x="457200" y="4414685"/>
            <a:ext cx="314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210"/>
          </a:bodyPr>
          <a:lstStyle/>
          <a:p>
            <a:pPr algn="ctr">
              <a:lnSpc>
                <a:spcPct val="100000"/>
              </a:lnSpc>
              <a:buNone/>
              <a:defRPr sz="23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pᵦ(s) = Zᵦ⁻¹ exp[−βH(s)]</a:t>
            </a:r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B656C081-FCB3-415B-8189-0FE090D5BBA1}"/>
              </a:ext>
            </a:extLst>
          </p:cNvPr>
          <p:cNvSpPr>
            <a:spLocks noGrp="1"/>
          </p:cNvSpPr>
          <p:nvPr/>
        </p:nvSpPr>
        <p:spPr>
          <a:xfrm>
            <a:off x="3781425" y="4603955"/>
            <a:ext cx="742950" cy="32385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CA8DDE2-3539-4B9B-B70F-752EE426AA04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3476625" cy="819150"/>
          </a:xfrm>
          <a:prstGeom prst="roundRect">
            <a:avLst>
              <a:gd name="adj" fmla="val 9302"/>
            </a:avLst>
          </a:prstGeom>
          <a:solidFill>
            <a:srgbClr val="DCE7FF"/>
          </a:solidFill>
          <a:ln w="9525">
            <a:solidFill>
              <a:srgbClr val="BDD0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2B4746BE-6A07-42CD-A73B-02CCACBD983F}"/>
              </a:ext>
            </a:extLst>
          </p:cNvPr>
          <p:cNvSpPr>
            <a:spLocks noGrp="1"/>
          </p:cNvSpPr>
          <p:nvPr/>
        </p:nvSpPr>
        <p:spPr>
          <a:xfrm>
            <a:off x="4810125" y="4457700"/>
            <a:ext cx="3095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β → ∞  ⇒  energy distribution concentrates on the minima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6162C55-EE0B-44BA-9F5D-81024156873B}"/>
              </a:ext>
            </a:extLst>
          </p:cNvPr>
          <p:cNvSpPr>
            <a:spLocks noGrp="1"/>
          </p:cNvSpPr>
          <p:nvPr/>
        </p:nvSpPr>
        <p:spPr>
          <a:xfrm>
            <a:off x="8720138" y="1924050"/>
            <a:ext cx="45720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99CA0F8A-D55A-4F5E-9E7A-50D6D6A5A0DB}"/>
              </a:ext>
            </a:extLst>
          </p:cNvPr>
          <p:cNvSpPr>
            <a:spLocks noGrp="1"/>
          </p:cNvSpPr>
          <p:nvPr/>
        </p:nvSpPr>
        <p:spPr>
          <a:xfrm>
            <a:off x="8705850" y="1938338"/>
            <a:ext cx="28575" cy="4572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506B266-4105-4EBE-B6B9-DAC2B35CE9E6}"/>
              </a:ext>
            </a:extLst>
          </p:cNvPr>
          <p:cNvSpPr>
            <a:spLocks noGrp="1"/>
          </p:cNvSpPr>
          <p:nvPr/>
        </p:nvSpPr>
        <p:spPr>
          <a:xfrm>
            <a:off x="9177338" y="19240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C14FA79-5AE9-414B-BF58-381982C79CED}"/>
              </a:ext>
            </a:extLst>
          </p:cNvPr>
          <p:cNvSpPr>
            <a:spLocks noGrp="1"/>
          </p:cNvSpPr>
          <p:nvPr/>
        </p:nvSpPr>
        <p:spPr>
          <a:xfrm>
            <a:off x="9163050" y="19383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CA1BEA7-EA01-45F2-AC78-BAD557C2D189}"/>
              </a:ext>
            </a:extLst>
          </p:cNvPr>
          <p:cNvSpPr>
            <a:spLocks noGrp="1"/>
          </p:cNvSpPr>
          <p:nvPr/>
        </p:nvSpPr>
        <p:spPr>
          <a:xfrm>
            <a:off x="9634538" y="19240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E64E84E3-9867-47A3-872F-A89C9F5ED26D}"/>
              </a:ext>
            </a:extLst>
          </p:cNvPr>
          <p:cNvSpPr>
            <a:spLocks noGrp="1"/>
          </p:cNvSpPr>
          <p:nvPr/>
        </p:nvSpPr>
        <p:spPr>
          <a:xfrm>
            <a:off x="9620250" y="1938338"/>
            <a:ext cx="28575" cy="4572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6E60D908-88D8-419D-92AC-2A4828FC4158}"/>
              </a:ext>
            </a:extLst>
          </p:cNvPr>
          <p:cNvSpPr>
            <a:spLocks noGrp="1"/>
          </p:cNvSpPr>
          <p:nvPr/>
        </p:nvSpPr>
        <p:spPr>
          <a:xfrm>
            <a:off x="10091738" y="1924050"/>
            <a:ext cx="45720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DC3FE79D-7C8F-453E-BAAB-3BBDD10B370A}"/>
              </a:ext>
            </a:extLst>
          </p:cNvPr>
          <p:cNvSpPr>
            <a:spLocks noGrp="1"/>
          </p:cNvSpPr>
          <p:nvPr/>
        </p:nvSpPr>
        <p:spPr>
          <a:xfrm>
            <a:off x="10077450" y="19383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926B55A9-C6F1-4BA1-B7D1-61E1FC7C976C}"/>
              </a:ext>
            </a:extLst>
          </p:cNvPr>
          <p:cNvSpPr>
            <a:spLocks noGrp="1"/>
          </p:cNvSpPr>
          <p:nvPr/>
        </p:nvSpPr>
        <p:spPr>
          <a:xfrm>
            <a:off x="10534650" y="1938338"/>
            <a:ext cx="28575" cy="4572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58B86362-274F-42D5-9B88-429EB3E899B6}"/>
              </a:ext>
            </a:extLst>
          </p:cNvPr>
          <p:cNvSpPr>
            <a:spLocks noGrp="1"/>
          </p:cNvSpPr>
          <p:nvPr/>
        </p:nvSpPr>
        <p:spPr>
          <a:xfrm>
            <a:off x="8720138" y="23812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780800D0-3C4B-4347-8547-3B7893A696DF}"/>
              </a:ext>
            </a:extLst>
          </p:cNvPr>
          <p:cNvSpPr>
            <a:spLocks noGrp="1"/>
          </p:cNvSpPr>
          <p:nvPr/>
        </p:nvSpPr>
        <p:spPr>
          <a:xfrm>
            <a:off x="8705850" y="23955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4D28DFC-A5A4-48AF-81AA-01F221D6E169}"/>
              </a:ext>
            </a:extLst>
          </p:cNvPr>
          <p:cNvSpPr>
            <a:spLocks noGrp="1"/>
          </p:cNvSpPr>
          <p:nvPr/>
        </p:nvSpPr>
        <p:spPr>
          <a:xfrm>
            <a:off x="9177338" y="23812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B8F6AC5F-948D-43BA-A944-12804ADF9D9C}"/>
              </a:ext>
            </a:extLst>
          </p:cNvPr>
          <p:cNvSpPr>
            <a:spLocks noGrp="1"/>
          </p:cNvSpPr>
          <p:nvPr/>
        </p:nvSpPr>
        <p:spPr>
          <a:xfrm>
            <a:off x="9163050" y="23955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961402EC-5759-45E4-8D61-4B110F3E5A20}"/>
              </a:ext>
            </a:extLst>
          </p:cNvPr>
          <p:cNvSpPr>
            <a:spLocks noGrp="1"/>
          </p:cNvSpPr>
          <p:nvPr/>
        </p:nvSpPr>
        <p:spPr>
          <a:xfrm>
            <a:off x="9634538" y="2381250"/>
            <a:ext cx="45720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1BE74A71-201D-4CC6-AAF9-A1ED5FF7FE54}"/>
              </a:ext>
            </a:extLst>
          </p:cNvPr>
          <p:cNvSpPr>
            <a:spLocks noGrp="1"/>
          </p:cNvSpPr>
          <p:nvPr/>
        </p:nvSpPr>
        <p:spPr>
          <a:xfrm>
            <a:off x="9620250" y="23955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BF68CF42-87F8-45AD-A3C3-CF8890E1D03D}"/>
              </a:ext>
            </a:extLst>
          </p:cNvPr>
          <p:cNvSpPr>
            <a:spLocks noGrp="1"/>
          </p:cNvSpPr>
          <p:nvPr/>
        </p:nvSpPr>
        <p:spPr>
          <a:xfrm>
            <a:off x="10091738" y="23812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245F3C46-C8C1-4114-9E15-B598329D3297}"/>
              </a:ext>
            </a:extLst>
          </p:cNvPr>
          <p:cNvSpPr>
            <a:spLocks noGrp="1"/>
          </p:cNvSpPr>
          <p:nvPr/>
        </p:nvSpPr>
        <p:spPr>
          <a:xfrm>
            <a:off x="10077450" y="23955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FF199BC7-7179-4288-ABD8-48A1B14BEACA}"/>
              </a:ext>
            </a:extLst>
          </p:cNvPr>
          <p:cNvSpPr>
            <a:spLocks noGrp="1"/>
          </p:cNvSpPr>
          <p:nvPr/>
        </p:nvSpPr>
        <p:spPr>
          <a:xfrm>
            <a:off x="10534650" y="23955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7F4E1243-B3FC-40D5-A2D3-601BA88CDD36}"/>
              </a:ext>
            </a:extLst>
          </p:cNvPr>
          <p:cNvSpPr>
            <a:spLocks noGrp="1"/>
          </p:cNvSpPr>
          <p:nvPr/>
        </p:nvSpPr>
        <p:spPr>
          <a:xfrm>
            <a:off x="8720138" y="28384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2209D5DE-A5C3-43CB-81A0-FEFD85B603DA}"/>
              </a:ext>
            </a:extLst>
          </p:cNvPr>
          <p:cNvSpPr>
            <a:spLocks noGrp="1"/>
          </p:cNvSpPr>
          <p:nvPr/>
        </p:nvSpPr>
        <p:spPr>
          <a:xfrm>
            <a:off x="8705850" y="28527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8F5ABDB9-ECAD-4CF9-BCB6-3F4B231244E7}"/>
              </a:ext>
            </a:extLst>
          </p:cNvPr>
          <p:cNvSpPr>
            <a:spLocks noGrp="1"/>
          </p:cNvSpPr>
          <p:nvPr/>
        </p:nvSpPr>
        <p:spPr>
          <a:xfrm>
            <a:off x="9177338" y="2838450"/>
            <a:ext cx="45720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F1C7ECB9-01BB-4510-BFCD-D9CF191C7D3D}"/>
              </a:ext>
            </a:extLst>
          </p:cNvPr>
          <p:cNvSpPr>
            <a:spLocks noGrp="1"/>
          </p:cNvSpPr>
          <p:nvPr/>
        </p:nvSpPr>
        <p:spPr>
          <a:xfrm>
            <a:off x="9163050" y="2852738"/>
            <a:ext cx="28575" cy="4572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A8EBD794-DC67-4675-A67E-97C9253E9D60}"/>
              </a:ext>
            </a:extLst>
          </p:cNvPr>
          <p:cNvSpPr>
            <a:spLocks noGrp="1"/>
          </p:cNvSpPr>
          <p:nvPr/>
        </p:nvSpPr>
        <p:spPr>
          <a:xfrm>
            <a:off x="9634538" y="28384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827D5E61-18A8-45F3-B90B-EC9E4E2F26D0}"/>
              </a:ext>
            </a:extLst>
          </p:cNvPr>
          <p:cNvSpPr>
            <a:spLocks noGrp="1"/>
          </p:cNvSpPr>
          <p:nvPr/>
        </p:nvSpPr>
        <p:spPr>
          <a:xfrm>
            <a:off x="9620250" y="28527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37BCB5D6-DEB2-4D6A-8997-17CA00A0F39A}"/>
              </a:ext>
            </a:extLst>
          </p:cNvPr>
          <p:cNvSpPr>
            <a:spLocks noGrp="1"/>
          </p:cNvSpPr>
          <p:nvPr/>
        </p:nvSpPr>
        <p:spPr>
          <a:xfrm>
            <a:off x="10091738" y="28384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13436E77-535F-4016-96FE-3EC96A01266A}"/>
              </a:ext>
            </a:extLst>
          </p:cNvPr>
          <p:cNvSpPr>
            <a:spLocks noGrp="1"/>
          </p:cNvSpPr>
          <p:nvPr/>
        </p:nvSpPr>
        <p:spPr>
          <a:xfrm>
            <a:off x="10077450" y="2852738"/>
            <a:ext cx="28575" cy="4572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BE2562AF-409D-48C9-B178-8B5B2BFD7837}"/>
              </a:ext>
            </a:extLst>
          </p:cNvPr>
          <p:cNvSpPr>
            <a:spLocks noGrp="1"/>
          </p:cNvSpPr>
          <p:nvPr/>
        </p:nvSpPr>
        <p:spPr>
          <a:xfrm>
            <a:off x="10534650" y="28527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4D412A92-891D-4A92-A9EA-45AEC6E9B27C}"/>
              </a:ext>
            </a:extLst>
          </p:cNvPr>
          <p:cNvSpPr>
            <a:spLocks noGrp="1"/>
          </p:cNvSpPr>
          <p:nvPr/>
        </p:nvSpPr>
        <p:spPr>
          <a:xfrm>
            <a:off x="8720138" y="3295650"/>
            <a:ext cx="45720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B1643ABC-D8B2-4296-A378-3B6C86A3DC21}"/>
              </a:ext>
            </a:extLst>
          </p:cNvPr>
          <p:cNvSpPr>
            <a:spLocks noGrp="1"/>
          </p:cNvSpPr>
          <p:nvPr/>
        </p:nvSpPr>
        <p:spPr>
          <a:xfrm>
            <a:off x="8705850" y="33099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D38036FB-0F32-4281-9E44-EDD04CEA1737}"/>
              </a:ext>
            </a:extLst>
          </p:cNvPr>
          <p:cNvSpPr>
            <a:spLocks noGrp="1"/>
          </p:cNvSpPr>
          <p:nvPr/>
        </p:nvSpPr>
        <p:spPr>
          <a:xfrm>
            <a:off x="9177338" y="32956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77124DD0-2BDE-4332-BA28-1A8AB135772F}"/>
              </a:ext>
            </a:extLst>
          </p:cNvPr>
          <p:cNvSpPr>
            <a:spLocks noGrp="1"/>
          </p:cNvSpPr>
          <p:nvPr/>
        </p:nvSpPr>
        <p:spPr>
          <a:xfrm>
            <a:off x="9163050" y="33099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33C4D3FD-4F81-46E0-9575-3F527EF79038}"/>
              </a:ext>
            </a:extLst>
          </p:cNvPr>
          <p:cNvSpPr>
            <a:spLocks noGrp="1"/>
          </p:cNvSpPr>
          <p:nvPr/>
        </p:nvSpPr>
        <p:spPr>
          <a:xfrm>
            <a:off x="9634538" y="32956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6D480B1F-E532-41E4-95A1-2723A56CBC00}"/>
              </a:ext>
            </a:extLst>
          </p:cNvPr>
          <p:cNvSpPr>
            <a:spLocks noGrp="1"/>
          </p:cNvSpPr>
          <p:nvPr/>
        </p:nvSpPr>
        <p:spPr>
          <a:xfrm>
            <a:off x="9620250" y="33099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87D92629-7722-44D5-BE3F-BA774A541466}"/>
              </a:ext>
            </a:extLst>
          </p:cNvPr>
          <p:cNvSpPr>
            <a:spLocks noGrp="1"/>
          </p:cNvSpPr>
          <p:nvPr/>
        </p:nvSpPr>
        <p:spPr>
          <a:xfrm>
            <a:off x="10091738" y="3295650"/>
            <a:ext cx="45720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A876F1D7-9B0F-40D0-9325-1239DBD6B962}"/>
              </a:ext>
            </a:extLst>
          </p:cNvPr>
          <p:cNvSpPr>
            <a:spLocks noGrp="1"/>
          </p:cNvSpPr>
          <p:nvPr/>
        </p:nvSpPr>
        <p:spPr>
          <a:xfrm>
            <a:off x="10077450" y="33099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2C356F3D-EA90-45B3-8F3D-70E8F9130ADB}"/>
              </a:ext>
            </a:extLst>
          </p:cNvPr>
          <p:cNvSpPr>
            <a:spLocks noGrp="1"/>
          </p:cNvSpPr>
          <p:nvPr/>
        </p:nvSpPr>
        <p:spPr>
          <a:xfrm>
            <a:off x="10534650" y="3309938"/>
            <a:ext cx="28575" cy="4572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8E485BAD-F683-46D1-AD20-371AB9D49B40}"/>
              </a:ext>
            </a:extLst>
          </p:cNvPr>
          <p:cNvSpPr>
            <a:spLocks noGrp="1"/>
          </p:cNvSpPr>
          <p:nvPr/>
        </p:nvSpPr>
        <p:spPr>
          <a:xfrm>
            <a:off x="8720138" y="37528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99896742-3EB7-44A1-AF80-1A776812F72E}"/>
              </a:ext>
            </a:extLst>
          </p:cNvPr>
          <p:cNvSpPr>
            <a:spLocks noGrp="1"/>
          </p:cNvSpPr>
          <p:nvPr/>
        </p:nvSpPr>
        <p:spPr>
          <a:xfrm>
            <a:off x="9177338" y="37528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E6751AC7-5D2D-4F88-8050-97D3F7F41E39}"/>
              </a:ext>
            </a:extLst>
          </p:cNvPr>
          <p:cNvSpPr>
            <a:spLocks noGrp="1"/>
          </p:cNvSpPr>
          <p:nvPr/>
        </p:nvSpPr>
        <p:spPr>
          <a:xfrm>
            <a:off x="9634538" y="3752850"/>
            <a:ext cx="457200" cy="28575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BA79036A-C612-4372-BF5B-AE85B9E9E306}"/>
              </a:ext>
            </a:extLst>
          </p:cNvPr>
          <p:cNvSpPr>
            <a:spLocks noGrp="1"/>
          </p:cNvSpPr>
          <p:nvPr/>
        </p:nvSpPr>
        <p:spPr>
          <a:xfrm>
            <a:off x="10091738" y="3752850"/>
            <a:ext cx="457200" cy="2857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Ovale 58">
            <a:extLst>
              <a:ext uri="{FF2B5EF4-FFF2-40B4-BE49-F238E27FC236}">
                <a16:creationId xmlns:a16="http://schemas.microsoft.com/office/drawing/2014/main" id="{0DFF4CB7-EEDB-4E1B-A217-8EC71EBF9D5E}"/>
              </a:ext>
            </a:extLst>
          </p:cNvPr>
          <p:cNvSpPr>
            <a:spLocks noGrp="1"/>
          </p:cNvSpPr>
          <p:nvPr/>
        </p:nvSpPr>
        <p:spPr>
          <a:xfrm>
            <a:off x="8591550" y="18097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2BF88639-352B-48D1-9649-BA93E65EB50C}"/>
              </a:ext>
            </a:extLst>
          </p:cNvPr>
          <p:cNvSpPr>
            <a:spLocks noGrp="1"/>
          </p:cNvSpPr>
          <p:nvPr/>
        </p:nvSpPr>
        <p:spPr>
          <a:xfrm>
            <a:off x="8591550" y="18002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19B1DC51-4699-4AA1-A3CE-4F62DE2508F7}"/>
              </a:ext>
            </a:extLst>
          </p:cNvPr>
          <p:cNvSpPr>
            <a:spLocks noGrp="1"/>
          </p:cNvSpPr>
          <p:nvPr/>
        </p:nvSpPr>
        <p:spPr>
          <a:xfrm>
            <a:off x="9048750" y="18097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3071F07B-ED73-455D-B152-3E913939C732}"/>
              </a:ext>
            </a:extLst>
          </p:cNvPr>
          <p:cNvSpPr>
            <a:spLocks noGrp="1"/>
          </p:cNvSpPr>
          <p:nvPr/>
        </p:nvSpPr>
        <p:spPr>
          <a:xfrm>
            <a:off x="9048750" y="18002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B3CB10EC-38CC-4693-AAF0-0A1C0A666DA2}"/>
              </a:ext>
            </a:extLst>
          </p:cNvPr>
          <p:cNvSpPr>
            <a:spLocks noGrp="1"/>
          </p:cNvSpPr>
          <p:nvPr/>
        </p:nvSpPr>
        <p:spPr>
          <a:xfrm>
            <a:off x="9505950" y="18097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3F1A06CA-9239-44D3-A3B2-6E92FAE263FC}"/>
              </a:ext>
            </a:extLst>
          </p:cNvPr>
          <p:cNvSpPr>
            <a:spLocks noGrp="1"/>
          </p:cNvSpPr>
          <p:nvPr/>
        </p:nvSpPr>
        <p:spPr>
          <a:xfrm>
            <a:off x="9505950" y="18002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5" name="Ovale 64">
            <a:extLst>
              <a:ext uri="{FF2B5EF4-FFF2-40B4-BE49-F238E27FC236}">
                <a16:creationId xmlns:a16="http://schemas.microsoft.com/office/drawing/2014/main" id="{4ED95720-4A6A-493B-A086-F0B444815E8F}"/>
              </a:ext>
            </a:extLst>
          </p:cNvPr>
          <p:cNvSpPr>
            <a:spLocks noGrp="1"/>
          </p:cNvSpPr>
          <p:nvPr/>
        </p:nvSpPr>
        <p:spPr>
          <a:xfrm>
            <a:off x="9963150" y="18097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3D9F63EE-AE46-4E2C-8CBF-1317D1AE5FDD}"/>
              </a:ext>
            </a:extLst>
          </p:cNvPr>
          <p:cNvSpPr>
            <a:spLocks noGrp="1"/>
          </p:cNvSpPr>
          <p:nvPr/>
        </p:nvSpPr>
        <p:spPr>
          <a:xfrm>
            <a:off x="9963150" y="18002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4B58EB71-3915-4F15-861B-385645CA6CBA}"/>
              </a:ext>
            </a:extLst>
          </p:cNvPr>
          <p:cNvSpPr>
            <a:spLocks noGrp="1"/>
          </p:cNvSpPr>
          <p:nvPr/>
        </p:nvSpPr>
        <p:spPr>
          <a:xfrm>
            <a:off x="10420350" y="18097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8C44B96E-F4F5-4BD2-8FFF-C7514898CE9C}"/>
              </a:ext>
            </a:extLst>
          </p:cNvPr>
          <p:cNvSpPr>
            <a:spLocks noGrp="1"/>
          </p:cNvSpPr>
          <p:nvPr/>
        </p:nvSpPr>
        <p:spPr>
          <a:xfrm>
            <a:off x="10420350" y="18002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166FB1DE-A6C9-4534-A7E2-E9E2C7F64959}"/>
              </a:ext>
            </a:extLst>
          </p:cNvPr>
          <p:cNvSpPr>
            <a:spLocks noGrp="1"/>
          </p:cNvSpPr>
          <p:nvPr/>
        </p:nvSpPr>
        <p:spPr>
          <a:xfrm>
            <a:off x="8591550" y="22669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7AA460DC-16B2-4BD4-8B43-AA59EF49C287}"/>
              </a:ext>
            </a:extLst>
          </p:cNvPr>
          <p:cNvSpPr>
            <a:spLocks noGrp="1"/>
          </p:cNvSpPr>
          <p:nvPr/>
        </p:nvSpPr>
        <p:spPr>
          <a:xfrm>
            <a:off x="8591550" y="22574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2E5D80EC-C4D9-495E-A8D4-FCA6083C0BC6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Rettangolo 71">
            <a:extLst>
              <a:ext uri="{FF2B5EF4-FFF2-40B4-BE49-F238E27FC236}">
                <a16:creationId xmlns:a16="http://schemas.microsoft.com/office/drawing/2014/main" id="{48085901-FD52-4AA2-AA5E-917ACA0E4FF6}"/>
              </a:ext>
            </a:extLst>
          </p:cNvPr>
          <p:cNvSpPr>
            <a:spLocks noGrp="1"/>
          </p:cNvSpPr>
          <p:nvPr/>
        </p:nvSpPr>
        <p:spPr>
          <a:xfrm>
            <a:off x="9048750" y="22574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48C9FF8E-6F57-48EA-88F0-5CC2B4165544}"/>
              </a:ext>
            </a:extLst>
          </p:cNvPr>
          <p:cNvSpPr>
            <a:spLocks noGrp="1"/>
          </p:cNvSpPr>
          <p:nvPr/>
        </p:nvSpPr>
        <p:spPr>
          <a:xfrm>
            <a:off x="9505950" y="22669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2B354080-12BC-42C6-B9C6-65CC171ACB57}"/>
              </a:ext>
            </a:extLst>
          </p:cNvPr>
          <p:cNvSpPr>
            <a:spLocks noGrp="1"/>
          </p:cNvSpPr>
          <p:nvPr/>
        </p:nvSpPr>
        <p:spPr>
          <a:xfrm>
            <a:off x="9505950" y="22574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5735E98C-666B-483A-9FF8-984C03E752F0}"/>
              </a:ext>
            </a:extLst>
          </p:cNvPr>
          <p:cNvSpPr>
            <a:spLocks noGrp="1"/>
          </p:cNvSpPr>
          <p:nvPr/>
        </p:nvSpPr>
        <p:spPr>
          <a:xfrm>
            <a:off x="9963150" y="22669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FA6CF0C6-1033-4E3E-98F3-B7C129C09850}"/>
              </a:ext>
            </a:extLst>
          </p:cNvPr>
          <p:cNvSpPr>
            <a:spLocks noGrp="1"/>
          </p:cNvSpPr>
          <p:nvPr/>
        </p:nvSpPr>
        <p:spPr>
          <a:xfrm>
            <a:off x="9963150" y="22574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F5446CC9-32B4-478D-9DBC-D4E9E127362A}"/>
              </a:ext>
            </a:extLst>
          </p:cNvPr>
          <p:cNvSpPr>
            <a:spLocks noGrp="1"/>
          </p:cNvSpPr>
          <p:nvPr/>
        </p:nvSpPr>
        <p:spPr>
          <a:xfrm>
            <a:off x="10420350" y="22669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91346B7E-B52B-46D4-BB8B-92716AEC2639}"/>
              </a:ext>
            </a:extLst>
          </p:cNvPr>
          <p:cNvSpPr>
            <a:spLocks noGrp="1"/>
          </p:cNvSpPr>
          <p:nvPr/>
        </p:nvSpPr>
        <p:spPr>
          <a:xfrm>
            <a:off x="10420350" y="22574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90445BD2-AEFD-460C-A752-56FE9339C82A}"/>
              </a:ext>
            </a:extLst>
          </p:cNvPr>
          <p:cNvSpPr>
            <a:spLocks noGrp="1"/>
          </p:cNvSpPr>
          <p:nvPr/>
        </p:nvSpPr>
        <p:spPr>
          <a:xfrm>
            <a:off x="8591550" y="27241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1F450F42-47BE-4D8D-B36A-2CD4A07AE228}"/>
              </a:ext>
            </a:extLst>
          </p:cNvPr>
          <p:cNvSpPr>
            <a:spLocks noGrp="1"/>
          </p:cNvSpPr>
          <p:nvPr/>
        </p:nvSpPr>
        <p:spPr>
          <a:xfrm>
            <a:off x="8591550" y="27146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1" name="Ovale 80">
            <a:extLst>
              <a:ext uri="{FF2B5EF4-FFF2-40B4-BE49-F238E27FC236}">
                <a16:creationId xmlns:a16="http://schemas.microsoft.com/office/drawing/2014/main" id="{04B1E177-6ECC-4DE2-BE83-891F644E9F15}"/>
              </a:ext>
            </a:extLst>
          </p:cNvPr>
          <p:cNvSpPr>
            <a:spLocks noGrp="1"/>
          </p:cNvSpPr>
          <p:nvPr/>
        </p:nvSpPr>
        <p:spPr>
          <a:xfrm>
            <a:off x="9048750" y="27241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00AFC60B-845C-4A76-8FEE-64E7AEC89184}"/>
              </a:ext>
            </a:extLst>
          </p:cNvPr>
          <p:cNvSpPr>
            <a:spLocks noGrp="1"/>
          </p:cNvSpPr>
          <p:nvPr/>
        </p:nvSpPr>
        <p:spPr>
          <a:xfrm>
            <a:off x="9048750" y="27146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3" name="Ovale 82">
            <a:extLst>
              <a:ext uri="{FF2B5EF4-FFF2-40B4-BE49-F238E27FC236}">
                <a16:creationId xmlns:a16="http://schemas.microsoft.com/office/drawing/2014/main" id="{26151958-5D29-4B6A-A875-4D57B1513819}"/>
              </a:ext>
            </a:extLst>
          </p:cNvPr>
          <p:cNvSpPr>
            <a:spLocks noGrp="1"/>
          </p:cNvSpPr>
          <p:nvPr/>
        </p:nvSpPr>
        <p:spPr>
          <a:xfrm>
            <a:off x="9505950" y="27241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65B1D987-259F-4F5C-B3CC-EA2CD89FE390}"/>
              </a:ext>
            </a:extLst>
          </p:cNvPr>
          <p:cNvSpPr>
            <a:spLocks noGrp="1"/>
          </p:cNvSpPr>
          <p:nvPr/>
        </p:nvSpPr>
        <p:spPr>
          <a:xfrm>
            <a:off x="9505950" y="27146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5" name="Ovale 84">
            <a:extLst>
              <a:ext uri="{FF2B5EF4-FFF2-40B4-BE49-F238E27FC236}">
                <a16:creationId xmlns:a16="http://schemas.microsoft.com/office/drawing/2014/main" id="{426FA022-2B9F-46AE-BA61-70CECF3C8CD8}"/>
              </a:ext>
            </a:extLst>
          </p:cNvPr>
          <p:cNvSpPr>
            <a:spLocks noGrp="1"/>
          </p:cNvSpPr>
          <p:nvPr/>
        </p:nvSpPr>
        <p:spPr>
          <a:xfrm>
            <a:off x="9963150" y="27241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8AC66BE8-F03F-4863-9FE7-3F0ADB4EF552}"/>
              </a:ext>
            </a:extLst>
          </p:cNvPr>
          <p:cNvSpPr>
            <a:spLocks noGrp="1"/>
          </p:cNvSpPr>
          <p:nvPr/>
        </p:nvSpPr>
        <p:spPr>
          <a:xfrm>
            <a:off x="9963150" y="27146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7" name="Ovale 86">
            <a:extLst>
              <a:ext uri="{FF2B5EF4-FFF2-40B4-BE49-F238E27FC236}">
                <a16:creationId xmlns:a16="http://schemas.microsoft.com/office/drawing/2014/main" id="{218B3688-1420-4CCA-A400-A0B8B0352443}"/>
              </a:ext>
            </a:extLst>
          </p:cNvPr>
          <p:cNvSpPr>
            <a:spLocks noGrp="1"/>
          </p:cNvSpPr>
          <p:nvPr/>
        </p:nvSpPr>
        <p:spPr>
          <a:xfrm>
            <a:off x="10420350" y="27241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ttangolo 87">
            <a:extLst>
              <a:ext uri="{FF2B5EF4-FFF2-40B4-BE49-F238E27FC236}">
                <a16:creationId xmlns:a16="http://schemas.microsoft.com/office/drawing/2014/main" id="{8EA1AD2B-140A-4B00-8C42-13B2673679AB}"/>
              </a:ext>
            </a:extLst>
          </p:cNvPr>
          <p:cNvSpPr>
            <a:spLocks noGrp="1"/>
          </p:cNvSpPr>
          <p:nvPr/>
        </p:nvSpPr>
        <p:spPr>
          <a:xfrm>
            <a:off x="10420350" y="27146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9" name="Ovale 88">
            <a:extLst>
              <a:ext uri="{FF2B5EF4-FFF2-40B4-BE49-F238E27FC236}">
                <a16:creationId xmlns:a16="http://schemas.microsoft.com/office/drawing/2014/main" id="{696EE155-AFC7-4F76-A835-F933EE6544F5}"/>
              </a:ext>
            </a:extLst>
          </p:cNvPr>
          <p:cNvSpPr>
            <a:spLocks noGrp="1"/>
          </p:cNvSpPr>
          <p:nvPr/>
        </p:nvSpPr>
        <p:spPr>
          <a:xfrm>
            <a:off x="8591550" y="31813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Rettangolo 89">
            <a:extLst>
              <a:ext uri="{FF2B5EF4-FFF2-40B4-BE49-F238E27FC236}">
                <a16:creationId xmlns:a16="http://schemas.microsoft.com/office/drawing/2014/main" id="{04F2B792-3E81-455F-BC0E-B92A5D0A430C}"/>
              </a:ext>
            </a:extLst>
          </p:cNvPr>
          <p:cNvSpPr>
            <a:spLocks noGrp="1"/>
          </p:cNvSpPr>
          <p:nvPr/>
        </p:nvSpPr>
        <p:spPr>
          <a:xfrm>
            <a:off x="8591550" y="31718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1" name="Ovale 90">
            <a:extLst>
              <a:ext uri="{FF2B5EF4-FFF2-40B4-BE49-F238E27FC236}">
                <a16:creationId xmlns:a16="http://schemas.microsoft.com/office/drawing/2014/main" id="{0514F106-A5DE-4723-B181-40BF8AC09599}"/>
              </a:ext>
            </a:extLst>
          </p:cNvPr>
          <p:cNvSpPr>
            <a:spLocks noGrp="1"/>
          </p:cNvSpPr>
          <p:nvPr/>
        </p:nvSpPr>
        <p:spPr>
          <a:xfrm>
            <a:off x="9048750" y="31813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ttangolo 91">
            <a:extLst>
              <a:ext uri="{FF2B5EF4-FFF2-40B4-BE49-F238E27FC236}">
                <a16:creationId xmlns:a16="http://schemas.microsoft.com/office/drawing/2014/main" id="{FF15E76C-A11B-44B5-99AC-EFE441FFC240}"/>
              </a:ext>
            </a:extLst>
          </p:cNvPr>
          <p:cNvSpPr>
            <a:spLocks noGrp="1"/>
          </p:cNvSpPr>
          <p:nvPr/>
        </p:nvSpPr>
        <p:spPr>
          <a:xfrm>
            <a:off x="9048750" y="31718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3DBDC574-32C2-4364-AB2C-7F204FEC738D}"/>
              </a:ext>
            </a:extLst>
          </p:cNvPr>
          <p:cNvSpPr>
            <a:spLocks noGrp="1"/>
          </p:cNvSpPr>
          <p:nvPr/>
        </p:nvSpPr>
        <p:spPr>
          <a:xfrm>
            <a:off x="9505950" y="31813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5D91F27F-0E98-40C2-AAE1-261FE4F815F9}"/>
              </a:ext>
            </a:extLst>
          </p:cNvPr>
          <p:cNvSpPr>
            <a:spLocks noGrp="1"/>
          </p:cNvSpPr>
          <p:nvPr/>
        </p:nvSpPr>
        <p:spPr>
          <a:xfrm>
            <a:off x="9505950" y="31718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5" name="Ovale 94">
            <a:extLst>
              <a:ext uri="{FF2B5EF4-FFF2-40B4-BE49-F238E27FC236}">
                <a16:creationId xmlns:a16="http://schemas.microsoft.com/office/drawing/2014/main" id="{B793F2DB-B3C7-4010-A452-FCB813C068F4}"/>
              </a:ext>
            </a:extLst>
          </p:cNvPr>
          <p:cNvSpPr>
            <a:spLocks noGrp="1"/>
          </p:cNvSpPr>
          <p:nvPr/>
        </p:nvSpPr>
        <p:spPr>
          <a:xfrm>
            <a:off x="9963150" y="31813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Rettangolo 95">
            <a:extLst>
              <a:ext uri="{FF2B5EF4-FFF2-40B4-BE49-F238E27FC236}">
                <a16:creationId xmlns:a16="http://schemas.microsoft.com/office/drawing/2014/main" id="{64D16DCD-2E10-4B5F-B2A9-C6C7AB116955}"/>
              </a:ext>
            </a:extLst>
          </p:cNvPr>
          <p:cNvSpPr>
            <a:spLocks noGrp="1"/>
          </p:cNvSpPr>
          <p:nvPr/>
        </p:nvSpPr>
        <p:spPr>
          <a:xfrm>
            <a:off x="9963150" y="31718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BC89FDC6-5E7C-4A18-B8FF-6A0ED0563B25}"/>
              </a:ext>
            </a:extLst>
          </p:cNvPr>
          <p:cNvSpPr>
            <a:spLocks noGrp="1"/>
          </p:cNvSpPr>
          <p:nvPr/>
        </p:nvSpPr>
        <p:spPr>
          <a:xfrm>
            <a:off x="10420350" y="31813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58DE2137-7D7B-4EFC-81F7-0C3EFADC5FAB}"/>
              </a:ext>
            </a:extLst>
          </p:cNvPr>
          <p:cNvSpPr>
            <a:spLocks noGrp="1"/>
          </p:cNvSpPr>
          <p:nvPr/>
        </p:nvSpPr>
        <p:spPr>
          <a:xfrm>
            <a:off x="10420350" y="31718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9" name="Ovale 98">
            <a:extLst>
              <a:ext uri="{FF2B5EF4-FFF2-40B4-BE49-F238E27FC236}">
                <a16:creationId xmlns:a16="http://schemas.microsoft.com/office/drawing/2014/main" id="{4B9A5DD1-13B5-41EB-858A-309B639154DA}"/>
              </a:ext>
            </a:extLst>
          </p:cNvPr>
          <p:cNvSpPr>
            <a:spLocks noGrp="1"/>
          </p:cNvSpPr>
          <p:nvPr/>
        </p:nvSpPr>
        <p:spPr>
          <a:xfrm>
            <a:off x="8591550" y="36385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Rettangolo 99">
            <a:extLst>
              <a:ext uri="{FF2B5EF4-FFF2-40B4-BE49-F238E27FC236}">
                <a16:creationId xmlns:a16="http://schemas.microsoft.com/office/drawing/2014/main" id="{A7697479-5E1C-423C-A890-D58FBFD99E50}"/>
              </a:ext>
            </a:extLst>
          </p:cNvPr>
          <p:cNvSpPr>
            <a:spLocks noGrp="1"/>
          </p:cNvSpPr>
          <p:nvPr/>
        </p:nvSpPr>
        <p:spPr>
          <a:xfrm>
            <a:off x="8591550" y="36290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34456AB3-13BD-42F8-8247-497A6C28D203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82B28152-908B-4C9F-9001-7A4BCB6B01DA}"/>
              </a:ext>
            </a:extLst>
          </p:cNvPr>
          <p:cNvSpPr>
            <a:spLocks noGrp="1"/>
          </p:cNvSpPr>
          <p:nvPr/>
        </p:nvSpPr>
        <p:spPr>
          <a:xfrm>
            <a:off x="9048750" y="36290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3" name="Ovale 102">
            <a:extLst>
              <a:ext uri="{FF2B5EF4-FFF2-40B4-BE49-F238E27FC236}">
                <a16:creationId xmlns:a16="http://schemas.microsoft.com/office/drawing/2014/main" id="{A9EA60C9-4671-4917-99F7-EC3D4F5E5B68}"/>
              </a:ext>
            </a:extLst>
          </p:cNvPr>
          <p:cNvSpPr>
            <a:spLocks noGrp="1"/>
          </p:cNvSpPr>
          <p:nvPr/>
        </p:nvSpPr>
        <p:spPr>
          <a:xfrm>
            <a:off x="9505950" y="36385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7012CCF3-A4DA-42AF-BC13-F00020EBC548}"/>
              </a:ext>
            </a:extLst>
          </p:cNvPr>
          <p:cNvSpPr>
            <a:spLocks noGrp="1"/>
          </p:cNvSpPr>
          <p:nvPr/>
        </p:nvSpPr>
        <p:spPr>
          <a:xfrm>
            <a:off x="9505950" y="36290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5" name="Ovale 104">
            <a:extLst>
              <a:ext uri="{FF2B5EF4-FFF2-40B4-BE49-F238E27FC236}">
                <a16:creationId xmlns:a16="http://schemas.microsoft.com/office/drawing/2014/main" id="{2E19D37B-DA3F-416C-A54F-F58AEE71728F}"/>
              </a:ext>
            </a:extLst>
          </p:cNvPr>
          <p:cNvSpPr>
            <a:spLocks noGrp="1"/>
          </p:cNvSpPr>
          <p:nvPr/>
        </p:nvSpPr>
        <p:spPr>
          <a:xfrm>
            <a:off x="9963150" y="3638550"/>
            <a:ext cx="257175" cy="257175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Rettangolo 105">
            <a:extLst>
              <a:ext uri="{FF2B5EF4-FFF2-40B4-BE49-F238E27FC236}">
                <a16:creationId xmlns:a16="http://schemas.microsoft.com/office/drawing/2014/main" id="{1E2131FA-7226-4028-8870-EBF3FF12008B}"/>
              </a:ext>
            </a:extLst>
          </p:cNvPr>
          <p:cNvSpPr>
            <a:spLocks noGrp="1"/>
          </p:cNvSpPr>
          <p:nvPr/>
        </p:nvSpPr>
        <p:spPr>
          <a:xfrm>
            <a:off x="9963150" y="36290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07" name="Ovale 106">
            <a:extLst>
              <a:ext uri="{FF2B5EF4-FFF2-40B4-BE49-F238E27FC236}">
                <a16:creationId xmlns:a16="http://schemas.microsoft.com/office/drawing/2014/main" id="{EA26AF70-00A0-4655-A2EB-96F7F8361898}"/>
              </a:ext>
            </a:extLst>
          </p:cNvPr>
          <p:cNvSpPr>
            <a:spLocks noGrp="1"/>
          </p:cNvSpPr>
          <p:nvPr/>
        </p:nvSpPr>
        <p:spPr>
          <a:xfrm>
            <a:off x="10420350" y="3638550"/>
            <a:ext cx="257175" cy="257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Rettangolo 107">
            <a:extLst>
              <a:ext uri="{FF2B5EF4-FFF2-40B4-BE49-F238E27FC236}">
                <a16:creationId xmlns:a16="http://schemas.microsoft.com/office/drawing/2014/main" id="{FA80131B-3867-4543-9F5C-7C70FAD1B5FE}"/>
              </a:ext>
            </a:extLst>
          </p:cNvPr>
          <p:cNvSpPr>
            <a:spLocks noGrp="1"/>
          </p:cNvSpPr>
          <p:nvPr/>
        </p:nvSpPr>
        <p:spPr>
          <a:xfrm>
            <a:off x="10420350" y="362902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EB559772-F1C2-40D5-80CF-72DF5FD847B9}"/>
              </a:ext>
            </a:extLst>
          </p:cNvPr>
          <p:cNvSpPr>
            <a:spLocks noGrp="1"/>
          </p:cNvSpPr>
          <p:nvPr/>
        </p:nvSpPr>
        <p:spPr>
          <a:xfrm>
            <a:off x="8334375" y="43053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 = 10   ·   N = 1000</a:t>
            </a:r>
          </a:p>
        </p:txBody>
      </p:sp>
      <p:sp>
        <p:nvSpPr>
          <p:cNvPr id="110" name="Rettangolo 109">
            <a:extLst>
              <a:ext uri="{FF2B5EF4-FFF2-40B4-BE49-F238E27FC236}">
                <a16:creationId xmlns:a16="http://schemas.microsoft.com/office/drawing/2014/main" id="{029494AA-F883-49B4-B0A3-9B8F8EC68828}"/>
              </a:ext>
            </a:extLst>
          </p:cNvPr>
          <p:cNvSpPr>
            <a:spLocks noGrp="1"/>
          </p:cNvSpPr>
          <p:nvPr/>
        </p:nvSpPr>
        <p:spPr>
          <a:xfrm>
            <a:off x="8239125" y="4927805"/>
            <a:ext cx="3524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•  Gaussian nearest-neighbour couplings</a:t>
            </a:r>
          </a:p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•  Frustration creates competing minima</a:t>
            </a:r>
          </a:p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•  Objective: s* = arg minₛ H(s)</a:t>
            </a:r>
          </a:p>
        </p:txBody>
      </p:sp>
      <p:sp>
        <p:nvSpPr>
          <p:cNvPr id="111" name="Rettangolo 110">
            <a:extLst>
              <a:ext uri="{FF2B5EF4-FFF2-40B4-BE49-F238E27FC236}">
                <a16:creationId xmlns:a16="http://schemas.microsoft.com/office/drawing/2014/main" id="{34CC5F08-490B-4310-906D-CA2AEAA6C1D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Rettangolo 111">
            <a:extLst>
              <a:ext uri="{FF2B5EF4-FFF2-40B4-BE49-F238E27FC236}">
                <a16:creationId xmlns:a16="http://schemas.microsoft.com/office/drawing/2014/main" id="{63888E04-444F-43AC-8CAF-440C9378327B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094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5-title-accent">
            <a:extLst>
              <a:ext uri="{FF2B5EF4-FFF2-40B4-BE49-F238E27FC236}">
                <a16:creationId xmlns:a16="http://schemas.microsoft.com/office/drawing/2014/main" id="{A4C0CE84-3821-4DE8-8887-DF7270B299C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5-title">
            <a:extLst>
              <a:ext uri="{FF2B5EF4-FFF2-40B4-BE49-F238E27FC236}">
                <a16:creationId xmlns:a16="http://schemas.microsoft.com/office/drawing/2014/main" id="{D57E5008-97ED-4E90-862C-7B7FDAD1754E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Metropolis-Hastings</a:t>
            </a:r>
          </a:p>
        </p:txBody>
      </p:sp>
      <p:sp>
        <p:nvSpPr>
          <p:cNvPr id="3" name="slide-5-topic-background">
            <a:extLst>
              <a:ext uri="{FF2B5EF4-FFF2-40B4-BE49-F238E27FC236}">
                <a16:creationId xmlns:a16="http://schemas.microsoft.com/office/drawing/2014/main" id="{90D98147-11E9-497B-87CC-CEA2D4508E9A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5-topic">
            <a:extLst>
              <a:ext uri="{FF2B5EF4-FFF2-40B4-BE49-F238E27FC236}">
                <a16:creationId xmlns:a16="http://schemas.microsoft.com/office/drawing/2014/main" id="{3127180F-B58C-42E1-A3DE-9E227C64CC7E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MONTE CARLO</a:t>
            </a:r>
          </a:p>
        </p:txBody>
      </p:sp>
      <p:sp>
        <p:nvSpPr>
          <p:cNvPr id="5" name="slide-5-header-rule">
            <a:extLst>
              <a:ext uri="{FF2B5EF4-FFF2-40B4-BE49-F238E27FC236}">
                <a16:creationId xmlns:a16="http://schemas.microsoft.com/office/drawing/2014/main" id="{ABC57395-F1E1-49BE-BC38-0D2795388C6F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5-number">
            <a:extLst>
              <a:ext uri="{FF2B5EF4-FFF2-40B4-BE49-F238E27FC236}">
                <a16:creationId xmlns:a16="http://schemas.microsoft.com/office/drawing/2014/main" id="{74C0A6A1-71FB-4D48-B064-54678BF99865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A2D1D02-E1EF-4615-B9D2-C04F743C40DC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Metropolis-Hastings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2986A4B-29E4-4063-A519-02A020E37489}"/>
              </a:ext>
            </a:extLst>
          </p:cNvPr>
          <p:cNvSpPr>
            <a:spLocks noGrp="1"/>
          </p:cNvSpPr>
          <p:nvPr/>
        </p:nvSpPr>
        <p:spPr>
          <a:xfrm>
            <a:off x="6705600" y="14668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Log-Hastings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230E1ED-7BB3-4EF7-8462-B7F9496C079A}"/>
              </a:ext>
            </a:extLst>
          </p:cNvPr>
          <p:cNvSpPr>
            <a:spLocks noGrp="1"/>
          </p:cNvSpPr>
          <p:nvPr/>
        </p:nvSpPr>
        <p:spPr>
          <a:xfrm>
            <a:off x="647700" y="1962150"/>
            <a:ext cx="4914900" cy="2362200"/>
          </a:xfrm>
          <a:prstGeom prst="roundRect">
            <a:avLst>
              <a:gd name="adj" fmla="val 3226"/>
            </a:avLst>
          </a:prstGeom>
          <a:solidFill>
            <a:srgbClr val="DDF1E3"/>
          </a:solidFill>
          <a:ln w="9525">
            <a:solidFill>
              <a:srgbClr val="A9D8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1E879497-5BFE-429C-93BE-A7DF9AD6A72E}"/>
              </a:ext>
            </a:extLst>
          </p:cNvPr>
          <p:cNvSpPr>
            <a:spLocks noGrp="1"/>
          </p:cNvSpPr>
          <p:nvPr/>
        </p:nvSpPr>
        <p:spPr>
          <a:xfrm>
            <a:off x="6629400" y="1962150"/>
            <a:ext cx="4914900" cy="2362200"/>
          </a:xfrm>
          <a:prstGeom prst="roundRect">
            <a:avLst>
              <a:gd name="adj" fmla="val 3226"/>
            </a:avLst>
          </a:prstGeom>
          <a:solidFill>
            <a:srgbClr val="DCE7FF"/>
          </a:solidFill>
          <a:ln w="9525">
            <a:solidFill>
              <a:srgbClr val="B8CA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018EBD14-D879-46D2-B9F9-812D48F13BEC}"/>
              </a:ext>
            </a:extLst>
          </p:cNvPr>
          <p:cNvSpPr>
            <a:spLocks noGrp="1"/>
          </p:cNvSpPr>
          <p:nvPr/>
        </p:nvSpPr>
        <p:spPr>
          <a:xfrm>
            <a:off x="7146821" y="3486549"/>
            <a:ext cx="1485900" cy="7715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B8CA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9BEEC1A-8C82-471E-A17F-FA1CE8CA1E8D}"/>
              </a:ext>
            </a:extLst>
          </p:cNvPr>
          <p:cNvSpPr>
            <a:spLocks noGrp="1"/>
          </p:cNvSpPr>
          <p:nvPr/>
        </p:nvSpPr>
        <p:spPr>
          <a:xfrm>
            <a:off x="5962650" y="3429000"/>
            <a:ext cx="3924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log u &lt; log A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B789363-3674-4D0D-8897-049C8F27F459}"/>
              </a:ext>
            </a:extLst>
          </p:cNvPr>
          <p:cNvSpPr>
            <a:spLocks noGrp="1"/>
          </p:cNvSpPr>
          <p:nvPr/>
        </p:nvSpPr>
        <p:spPr>
          <a:xfrm>
            <a:off x="8286750" y="377221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u ∼ Uniform(0,1)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DB6B6F89-937A-4242-8BD2-9F215D26B4B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82EB581-0839-4631-8A9E-91018BB2D725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Immagin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50" y="2811411"/>
            <a:ext cx="4658399" cy="485465"/>
          </a:xfrm>
          <a:prstGeom prst="rect">
            <a:avLst/>
          </a:prstGeom>
        </p:spPr>
      </p:pic>
      <p:pic>
        <p:nvPicPr>
          <p:cNvPr id="43" name="Immagin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632" y="2075958"/>
            <a:ext cx="4677468" cy="458002"/>
          </a:xfrm>
          <a:prstGeom prst="rect">
            <a:avLst/>
          </a:prstGeom>
        </p:spPr>
      </p:pic>
      <p:pic>
        <p:nvPicPr>
          <p:cNvPr id="44" name="Immagin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8968" y="3214844"/>
            <a:ext cx="2486332" cy="929672"/>
          </a:xfrm>
          <a:prstGeom prst="rect">
            <a:avLst/>
          </a:prstGeom>
        </p:spPr>
      </p:pic>
      <p:pic>
        <p:nvPicPr>
          <p:cNvPr id="45" name="Immagin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531" y="2147703"/>
            <a:ext cx="3805237" cy="95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9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-6-title-accent">
            <a:extLst>
              <a:ext uri="{FF2B5EF4-FFF2-40B4-BE49-F238E27FC236}">
                <a16:creationId xmlns:a16="http://schemas.microsoft.com/office/drawing/2014/main" id="{8FC870AC-64C6-4263-BF38-B04C42ABACF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6-title">
            <a:extLst>
              <a:ext uri="{FF2B5EF4-FFF2-40B4-BE49-F238E27FC236}">
                <a16:creationId xmlns:a16="http://schemas.microsoft.com/office/drawing/2014/main" id="{B2DCF06C-72C9-4CF0-9A17-2F6CB593A6E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Checkerboard update &amp; montecarlo_step</a:t>
            </a:r>
          </a:p>
        </p:txBody>
      </p:sp>
      <p:sp>
        <p:nvSpPr>
          <p:cNvPr id="3" name="slide-6-topic-background">
            <a:extLst>
              <a:ext uri="{FF2B5EF4-FFF2-40B4-BE49-F238E27FC236}">
                <a16:creationId xmlns:a16="http://schemas.microsoft.com/office/drawing/2014/main" id="{25E9DB5C-C9B8-4651-BB75-04F0BA594608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6-topic">
            <a:extLst>
              <a:ext uri="{FF2B5EF4-FFF2-40B4-BE49-F238E27FC236}">
                <a16:creationId xmlns:a16="http://schemas.microsoft.com/office/drawing/2014/main" id="{242C42B3-223E-423E-8793-90EBB03CFE97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6FEA"/>
                </a:solidFill>
                <a:latin typeface="Arial"/>
                <a:ea typeface="Arial"/>
                <a:cs typeface="Arial"/>
              </a:rPr>
              <a:t>MONTE CARLO</a:t>
            </a:r>
          </a:p>
        </p:txBody>
      </p:sp>
      <p:sp>
        <p:nvSpPr>
          <p:cNvPr id="5" name="slide-6-header-rule">
            <a:extLst>
              <a:ext uri="{FF2B5EF4-FFF2-40B4-BE49-F238E27FC236}">
                <a16:creationId xmlns:a16="http://schemas.microsoft.com/office/drawing/2014/main" id="{0B64DFB2-1891-449C-88DA-7F05AF4597AA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6-number">
            <a:extLst>
              <a:ext uri="{FF2B5EF4-FFF2-40B4-BE49-F238E27FC236}">
                <a16:creationId xmlns:a16="http://schemas.microsoft.com/office/drawing/2014/main" id="{BD8F9009-22BB-44ED-80F3-D5052445C7D8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464789B-FCF2-4724-B38F-83E5FF315229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6334125" cy="4762500"/>
          </a:xfrm>
          <a:prstGeom prst="roundRect">
            <a:avLst>
              <a:gd name="adj" fmla="val 160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0E7C75-BFE4-411F-8FBB-B196A4B20D7C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6334125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49A7465-E544-4429-9D50-01B19320E3EB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6029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MONTECARLO_STEP · CHECKERBOARD METROPOLIS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77743E1-B444-4957-8C8A-5C434DCFA95C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5991225" cy="426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for indices in [even_indices, odd_indices]: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proposed = population.clone()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proposed[:, indices] *= -1</a:t>
            </a:r>
          </a:p>
          <a:p>
            <a:endParaRPr sz="1125" b="0" i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# ΔE_i = H(s^(i)) - H(s)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delta_E = -2 * torch.einsum(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"ki,ki-&gt;ki", proposed[:, indices],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torch.einsum("kj,ji-&gt;ki",</a:t>
            </a:r>
          </a:p>
          <a:p>
            <a:pPr algn="l">
              <a:buNone/>
              <a:defRPr sz="1125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population, J[indices, :].T))</a:t>
            </a:r>
          </a:p>
          <a:p>
            <a:pPr algn="l">
              <a:lnSpc>
                <a:spcPct val="95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endParaRPr sz="1125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accept = (delta_E &lt; 0) | (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torch.rand_like(delta_E) &lt; torch.exp(-delta_E / T))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population[:, indices] = torch.where(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accept, proposed[:, indices], population[:, indices])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D9CE19C-3567-4481-B464-4034EC6584F0}"/>
              </a:ext>
            </a:extLst>
          </p:cNvPr>
          <p:cNvSpPr>
            <a:spLocks noGrp="1"/>
          </p:cNvSpPr>
          <p:nvPr/>
        </p:nvSpPr>
        <p:spPr>
          <a:xfrm>
            <a:off x="7477125" y="15240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i = xL² + yL + z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35669EEC-F5FE-4737-BD5F-D26DF5A8FC85}"/>
              </a:ext>
            </a:extLst>
          </p:cNvPr>
          <p:cNvSpPr>
            <a:spLocks noGrp="1"/>
          </p:cNvSpPr>
          <p:nvPr/>
        </p:nvSpPr>
        <p:spPr>
          <a:xfrm>
            <a:off x="7524750" y="45910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Pass 1</a:t>
            </a:r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924D0E35-F3F3-4EE7-930A-217DB5CD6A30}"/>
              </a:ext>
            </a:extLst>
          </p:cNvPr>
          <p:cNvSpPr>
            <a:spLocks noGrp="1"/>
          </p:cNvSpPr>
          <p:nvPr/>
        </p:nvSpPr>
        <p:spPr>
          <a:xfrm>
            <a:off x="7524750" y="49149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even sites</a:t>
            </a:r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E6EFAB13-DDB8-4878-95B1-4DF952E17E57}"/>
              </a:ext>
            </a:extLst>
          </p:cNvPr>
          <p:cNvSpPr>
            <a:spLocks noGrp="1"/>
          </p:cNvSpPr>
          <p:nvPr/>
        </p:nvSpPr>
        <p:spPr>
          <a:xfrm>
            <a:off x="9810750" y="45910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Pass 2</a:t>
            </a: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888EF38A-6412-4176-B823-9DA9221D2C47}"/>
              </a:ext>
            </a:extLst>
          </p:cNvPr>
          <p:cNvSpPr>
            <a:spLocks noGrp="1"/>
          </p:cNvSpPr>
          <p:nvPr/>
        </p:nvSpPr>
        <p:spPr>
          <a:xfrm>
            <a:off x="9810750" y="49149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odd sites</a:t>
            </a:r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9BE4BDF2-D320-46B8-9180-82A0E86FE9F3}"/>
              </a:ext>
            </a:extLst>
          </p:cNvPr>
          <p:cNvSpPr>
            <a:spLocks noGrp="1"/>
          </p:cNvSpPr>
          <p:nvPr/>
        </p:nvSpPr>
        <p:spPr>
          <a:xfrm>
            <a:off x="7231626" y="5486400"/>
            <a:ext cx="472009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ΔEᵢ = H(s⁽ⁱ⁾) − H(s) = 2 sᵢ hᵢ,    hᵢ = Σⱼ Jᵢⱼ sⱼ</a:t>
            </a:r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6EE84241-CDE1-4CEB-99D5-406794430F7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68731FE3-8582-4471-899A-3FD2155EAE1F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8" name="Immagin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793" y="2247900"/>
            <a:ext cx="2142663" cy="214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7-title-accent">
            <a:extLst>
              <a:ext uri="{FF2B5EF4-FFF2-40B4-BE49-F238E27FC236}">
                <a16:creationId xmlns:a16="http://schemas.microsoft.com/office/drawing/2014/main" id="{2C1F7562-2772-4D84-8C5A-A3F2B5B95B3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CB4FFBC2-D18D-48F0-BDA6-B90F8F7B43F4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Log-T schedule</a:t>
            </a:r>
          </a:p>
        </p:txBody>
      </p:sp>
      <p:sp>
        <p:nvSpPr>
          <p:cNvPr id="3" name="slide-7-topic-background">
            <a:extLst>
              <a:ext uri="{FF2B5EF4-FFF2-40B4-BE49-F238E27FC236}">
                <a16:creationId xmlns:a16="http://schemas.microsoft.com/office/drawing/2014/main" id="{298586C3-CC4D-4F90-A023-93DFD37A4748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7-topic">
            <a:extLst>
              <a:ext uri="{FF2B5EF4-FFF2-40B4-BE49-F238E27FC236}">
                <a16:creationId xmlns:a16="http://schemas.microsoft.com/office/drawing/2014/main" id="{2A66DDC9-31DF-428A-A38F-B2F5C1E7DFA2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MONTE CARLO</a:t>
            </a:r>
          </a:p>
        </p:txBody>
      </p:sp>
      <p:sp>
        <p:nvSpPr>
          <p:cNvPr id="5" name="slide-7-header-rule">
            <a:extLst>
              <a:ext uri="{FF2B5EF4-FFF2-40B4-BE49-F238E27FC236}">
                <a16:creationId xmlns:a16="http://schemas.microsoft.com/office/drawing/2014/main" id="{49937F46-D2BD-436C-890F-419DC893B5B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7-number">
            <a:extLst>
              <a:ext uri="{FF2B5EF4-FFF2-40B4-BE49-F238E27FC236}">
                <a16:creationId xmlns:a16="http://schemas.microsoft.com/office/drawing/2014/main" id="{C66AEA85-FE2C-4441-9B53-83CA48078910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2129B98-28DD-4361-99C3-19E612DDD46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Annealing: progressively increase β = 1/T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895D36C-D3B7-4CE5-BFC3-EEC8C0DD8969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T = 1.92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142FE8E-17D4-4347-8417-F4F4004870AA}"/>
              </a:ext>
            </a:extLst>
          </p:cNvPr>
          <p:cNvSpPr>
            <a:spLocks noGrp="1"/>
          </p:cNvSpPr>
          <p:nvPr/>
        </p:nvSpPr>
        <p:spPr>
          <a:xfrm>
            <a:off x="4933950" y="23050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T = 0.10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A723A81-D461-4078-B83E-2E59E89C1C4C}"/>
              </a:ext>
            </a:extLst>
          </p:cNvPr>
          <p:cNvSpPr>
            <a:spLocks noGrp="1"/>
          </p:cNvSpPr>
          <p:nvPr/>
        </p:nvSpPr>
        <p:spPr>
          <a:xfrm>
            <a:off x="1123950" y="2895600"/>
            <a:ext cx="4362450" cy="38100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721ACDCC-CD0C-4DF1-8483-BA5ADEE7010A}"/>
              </a:ext>
            </a:extLst>
          </p:cNvPr>
          <p:cNvSpPr>
            <a:spLocks noGrp="1"/>
          </p:cNvSpPr>
          <p:nvPr/>
        </p:nvSpPr>
        <p:spPr>
          <a:xfrm>
            <a:off x="1038225" y="2828925"/>
            <a:ext cx="171450" cy="171450"/>
          </a:xfrm>
          <a:prstGeom prst="ellipse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F983738C-1B8B-4A7D-80A6-FFE9DAC19D4E}"/>
              </a:ext>
            </a:extLst>
          </p:cNvPr>
          <p:cNvSpPr>
            <a:spLocks noGrp="1"/>
          </p:cNvSpPr>
          <p:nvPr/>
        </p:nvSpPr>
        <p:spPr>
          <a:xfrm>
            <a:off x="1628775" y="2828925"/>
            <a:ext cx="171450" cy="171450"/>
          </a:xfrm>
          <a:prstGeom prst="ellipse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0BEDDA04-EE76-4135-8B3B-08ACC844D3C9}"/>
              </a:ext>
            </a:extLst>
          </p:cNvPr>
          <p:cNvSpPr>
            <a:spLocks noGrp="1"/>
          </p:cNvSpPr>
          <p:nvPr/>
        </p:nvSpPr>
        <p:spPr>
          <a:xfrm>
            <a:off x="2295525" y="2828925"/>
            <a:ext cx="171450" cy="171450"/>
          </a:xfrm>
          <a:prstGeom prst="ellipse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9B35AD65-F320-4CA7-9ECB-AB06B6A6DCB7}"/>
              </a:ext>
            </a:extLst>
          </p:cNvPr>
          <p:cNvSpPr>
            <a:spLocks noGrp="1"/>
          </p:cNvSpPr>
          <p:nvPr/>
        </p:nvSpPr>
        <p:spPr>
          <a:xfrm>
            <a:off x="3038475" y="2828925"/>
            <a:ext cx="171450" cy="17145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223CFE71-4801-4807-A208-D5CA9513E36B}"/>
              </a:ext>
            </a:extLst>
          </p:cNvPr>
          <p:cNvSpPr>
            <a:spLocks noGrp="1"/>
          </p:cNvSpPr>
          <p:nvPr/>
        </p:nvSpPr>
        <p:spPr>
          <a:xfrm>
            <a:off x="3771900" y="2828925"/>
            <a:ext cx="171450" cy="17145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54E0ADF4-9ADD-46E8-8BA8-08A523F81818}"/>
              </a:ext>
            </a:extLst>
          </p:cNvPr>
          <p:cNvSpPr>
            <a:spLocks noGrp="1"/>
          </p:cNvSpPr>
          <p:nvPr/>
        </p:nvSpPr>
        <p:spPr>
          <a:xfrm>
            <a:off x="4429125" y="2828925"/>
            <a:ext cx="171450" cy="17145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2342FFBE-708E-4151-AA7D-58B49131EADE}"/>
              </a:ext>
            </a:extLst>
          </p:cNvPr>
          <p:cNvSpPr>
            <a:spLocks noGrp="1"/>
          </p:cNvSpPr>
          <p:nvPr/>
        </p:nvSpPr>
        <p:spPr>
          <a:xfrm>
            <a:off x="4962525" y="2828925"/>
            <a:ext cx="171450" cy="17145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4B484B86-E96D-45C4-A902-BE9418E7BF6B}"/>
              </a:ext>
            </a:extLst>
          </p:cNvPr>
          <p:cNvSpPr>
            <a:spLocks noGrp="1"/>
          </p:cNvSpPr>
          <p:nvPr/>
        </p:nvSpPr>
        <p:spPr>
          <a:xfrm>
            <a:off x="5400675" y="2828925"/>
            <a:ext cx="171450" cy="17145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03D16F7-DBB8-4B7C-9E51-3FD4B36C3E4A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log-spaced T places more points in the low-temperature regime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A3FC9EE7-FCBA-4981-98FA-2122B27FD707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5238750" cy="1352550"/>
          </a:xfrm>
          <a:prstGeom prst="roundRect">
            <a:avLst>
              <a:gd name="adj" fmla="val 5634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F9FC2122-FE8C-46C4-83B3-70CFF8FD0C3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523875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7E0251F0-E91D-4ED7-8478-D5E448F53668}"/>
              </a:ext>
            </a:extLst>
          </p:cNvPr>
          <p:cNvSpPr>
            <a:spLocks noGrp="1"/>
          </p:cNvSpPr>
          <p:nvPr/>
        </p:nvSpPr>
        <p:spPr>
          <a:xfrm>
            <a:off x="876300" y="4143375"/>
            <a:ext cx="493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TEMPERATURE_CHANGE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A5F67F1-0335-4343-A51B-648E276A554F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48958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35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temperatures = np.logspace(</a:t>
            </a:r>
          </a:p>
          <a:p>
            <a:pPr algn="l">
              <a:lnSpc>
                <a:spcPct val="94000"/>
              </a:lnSpc>
              <a:buNone/>
              <a:defRPr sz="135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np.log10(T_max), np.log10(T_min), temp_steps)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46A79EFA-8946-469C-B687-FBFC683188FE}"/>
              </a:ext>
            </a:extLst>
          </p:cNvPr>
          <p:cNvSpPr>
            <a:spLocks noGrp="1"/>
          </p:cNvSpPr>
          <p:nvPr/>
        </p:nvSpPr>
        <p:spPr>
          <a:xfrm>
            <a:off x="6572250" y="1466850"/>
            <a:ext cx="4914900" cy="1828800"/>
          </a:xfrm>
          <a:prstGeom prst="roundRect">
            <a:avLst>
              <a:gd name="adj" fmla="val 4167"/>
            </a:avLst>
          </a:prstGeom>
          <a:solidFill>
            <a:srgbClr val="DCE7FF"/>
          </a:solidFill>
          <a:ln w="9525">
            <a:solidFill>
              <a:srgbClr val="B8CA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1C921150-E9FE-4A4C-B9C6-D1EDADA7DBBD}"/>
              </a:ext>
            </a:extLst>
          </p:cNvPr>
          <p:cNvSpPr>
            <a:spLocks noGrp="1"/>
          </p:cNvSpPr>
          <p:nvPr/>
        </p:nvSpPr>
        <p:spPr>
          <a:xfrm>
            <a:off x="7915275" y="1595438"/>
            <a:ext cx="434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Cᵥ-based schedule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AB281F97-69CC-41AB-B01A-E2C81C836CC9}"/>
              </a:ext>
            </a:extLst>
          </p:cNvPr>
          <p:cNvSpPr>
            <a:spLocks noGrp="1"/>
          </p:cNvSpPr>
          <p:nvPr/>
        </p:nvSpPr>
        <p:spPr>
          <a:xfrm>
            <a:off x="7848600" y="2171700"/>
            <a:ext cx="19812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BDD0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BDBB7A37-A520-453A-9F56-2B4725BFEDFD}"/>
              </a:ext>
            </a:extLst>
          </p:cNvPr>
          <p:cNvSpPr>
            <a:spLocks noGrp="1"/>
          </p:cNvSpPr>
          <p:nvPr/>
        </p:nvSpPr>
        <p:spPr>
          <a:xfrm>
            <a:off x="8048625" y="2243138"/>
            <a:ext cx="1600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95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Δβ ∝ Cᵥ⁻¹ᐟ²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38F1FBEF-49A1-4DC2-8F0A-FEEA09F24665}"/>
              </a:ext>
            </a:extLst>
          </p:cNvPr>
          <p:cNvSpPr>
            <a:spLocks noGrp="1"/>
          </p:cNvSpPr>
          <p:nvPr/>
        </p:nvSpPr>
        <p:spPr>
          <a:xfrm>
            <a:off x="6572250" y="3600450"/>
            <a:ext cx="4914900" cy="1828800"/>
          </a:xfrm>
          <a:prstGeom prst="roundRect">
            <a:avLst>
              <a:gd name="adj" fmla="val 4167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8513D14-7BA6-42B8-8F24-403460073EF7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434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Chosen schedule: log T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6B64FB0B-DC07-43D8-BAF5-22F362ABDF19}"/>
              </a:ext>
            </a:extLst>
          </p:cNvPr>
          <p:cNvSpPr>
            <a:spLocks noGrp="1"/>
          </p:cNvSpPr>
          <p:nvPr/>
        </p:nvSpPr>
        <p:spPr>
          <a:xfrm>
            <a:off x="6896100" y="4305300"/>
            <a:ext cx="4191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Good performance for PA in the tested setup</a:t>
            </a:r>
          </a:p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Avoids giving GA a schedule-specific advantage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6E5800E1-0367-4FFB-91FD-908A425FD43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4EABAA33-5C71-4ACE-B62A-E53B80C11859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938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8-title-accent">
            <a:extLst>
              <a:ext uri="{FF2B5EF4-FFF2-40B4-BE49-F238E27FC236}">
                <a16:creationId xmlns:a16="http://schemas.microsoft.com/office/drawing/2014/main" id="{ACFA48EA-3FC6-49E2-89DE-8C6AC7F0DFE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8-title">
            <a:extLst>
              <a:ext uri="{FF2B5EF4-FFF2-40B4-BE49-F238E27FC236}">
                <a16:creationId xmlns:a16="http://schemas.microsoft.com/office/drawing/2014/main" id="{2F9A17D8-51BB-4935-BF47-C05FFBA1A68A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6874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Simulated Annealing</a:t>
            </a:r>
          </a:p>
        </p:txBody>
      </p:sp>
      <p:sp>
        <p:nvSpPr>
          <p:cNvPr id="3" name="slide-8-topic-background">
            <a:extLst>
              <a:ext uri="{FF2B5EF4-FFF2-40B4-BE49-F238E27FC236}">
                <a16:creationId xmlns:a16="http://schemas.microsoft.com/office/drawing/2014/main" id="{94E7D1F2-B58B-4D55-A9D0-36E2AFFD8E51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8-topic">
            <a:extLst>
              <a:ext uri="{FF2B5EF4-FFF2-40B4-BE49-F238E27FC236}">
                <a16:creationId xmlns:a16="http://schemas.microsoft.com/office/drawing/2014/main" id="{5C846CEC-84D6-47F9-AD5F-B82E37AD2F43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t>CLASSICAL ANNEALING</a:t>
            </a:r>
          </a:p>
        </p:txBody>
      </p:sp>
      <p:sp>
        <p:nvSpPr>
          <p:cNvPr id="5" name="slide-8-header-rule">
            <a:extLst>
              <a:ext uri="{FF2B5EF4-FFF2-40B4-BE49-F238E27FC236}">
                <a16:creationId xmlns:a16="http://schemas.microsoft.com/office/drawing/2014/main" id="{E6C7EE9C-E93F-47B4-BBB5-A9D5F1E02155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8-number">
            <a:extLst>
              <a:ext uri="{FF2B5EF4-FFF2-40B4-BE49-F238E27FC236}">
                <a16:creationId xmlns:a16="http://schemas.microsoft.com/office/drawing/2014/main" id="{C6014821-E2E2-479A-9B0C-710BFC503BBD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A2A1936A-9EB2-4A31-8C82-ED542C67B0EC}"/>
              </a:ext>
            </a:extLst>
          </p:cNvPr>
          <p:cNvSpPr>
            <a:spLocks noGrp="1"/>
          </p:cNvSpPr>
          <p:nvPr/>
        </p:nvSpPr>
        <p:spPr>
          <a:xfrm>
            <a:off x="3167063" y="2543175"/>
            <a:ext cx="228600" cy="228600"/>
          </a:xfrm>
          <a:prstGeom prst="rightArrow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A97CC7C4-BCC4-4E18-84BA-2355E299BD52}"/>
              </a:ext>
            </a:extLst>
          </p:cNvPr>
          <p:cNvSpPr>
            <a:spLocks noGrp="1"/>
          </p:cNvSpPr>
          <p:nvPr/>
        </p:nvSpPr>
        <p:spPr>
          <a:xfrm>
            <a:off x="5981700" y="2543175"/>
            <a:ext cx="228600" cy="228600"/>
          </a:xfrm>
          <a:prstGeom prst="rightArrow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D3E32182-0E99-4E7A-90F6-E926D37DEACD}"/>
              </a:ext>
            </a:extLst>
          </p:cNvPr>
          <p:cNvSpPr>
            <a:spLocks noGrp="1"/>
          </p:cNvSpPr>
          <p:nvPr/>
        </p:nvSpPr>
        <p:spPr>
          <a:xfrm>
            <a:off x="8796338" y="2543175"/>
            <a:ext cx="228600" cy="228600"/>
          </a:xfrm>
          <a:prstGeom prst="rightArrow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599298A-4F32-4BD2-B219-B3BE8964B51B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2490788" cy="1695450"/>
          </a:xfrm>
          <a:prstGeom prst="roundRect">
            <a:avLst>
              <a:gd name="adj" fmla="val 4494"/>
            </a:avLst>
          </a:prstGeom>
          <a:solidFill>
            <a:srgbClr val="DDF1E3"/>
          </a:solidFill>
          <a:ln w="11430">
            <a:solidFill>
              <a:srgbClr val="A9D8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A68CCD8-FA22-45F5-90E9-007FD16AA495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21478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Equilibrate at high 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A79A126-2E93-40DD-B708-59F5D6414541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2147888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 random replicas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5DC4BCB3-B458-4BD2-AAF4-9701D9996513}"/>
              </a:ext>
            </a:extLst>
          </p:cNvPr>
          <p:cNvSpPr>
            <a:spLocks noGrp="1"/>
          </p:cNvSpPr>
          <p:nvPr/>
        </p:nvSpPr>
        <p:spPr>
          <a:xfrm>
            <a:off x="3443288" y="1809750"/>
            <a:ext cx="2490788" cy="1695450"/>
          </a:xfrm>
          <a:prstGeom prst="roundRect">
            <a:avLst>
              <a:gd name="adj" fmla="val 4494"/>
            </a:avLst>
          </a:prstGeom>
          <a:solidFill>
            <a:srgbClr val="DDF1E3"/>
          </a:solidFill>
          <a:ln w="11430">
            <a:solidFill>
              <a:srgbClr val="A9D8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064FB94-BD08-474E-9C86-CB4872BAA72F}"/>
              </a:ext>
            </a:extLst>
          </p:cNvPr>
          <p:cNvSpPr>
            <a:spLocks noGrp="1"/>
          </p:cNvSpPr>
          <p:nvPr/>
        </p:nvSpPr>
        <p:spPr>
          <a:xfrm>
            <a:off x="3614738" y="2038350"/>
            <a:ext cx="21478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Lower temperature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5A3956F-11ED-4AEF-BE15-06CFE19AB8CE}"/>
              </a:ext>
            </a:extLst>
          </p:cNvPr>
          <p:cNvSpPr>
            <a:spLocks noGrp="1"/>
          </p:cNvSpPr>
          <p:nvPr/>
        </p:nvSpPr>
        <p:spPr>
          <a:xfrm>
            <a:off x="3614738" y="2552700"/>
            <a:ext cx="2147888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β ← β + Δβ(β)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62FB5C10-E5B8-42C3-B99A-EA7D6C3C0F89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2490788" cy="1695450"/>
          </a:xfrm>
          <a:prstGeom prst="roundRect">
            <a:avLst>
              <a:gd name="adj" fmla="val 4494"/>
            </a:avLst>
          </a:prstGeom>
          <a:solidFill>
            <a:srgbClr val="BFE5CA"/>
          </a:solidFill>
          <a:ln w="11430">
            <a:solidFill>
              <a:srgbClr val="278C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C1AEF07-B77C-4819-AAA5-6E4A1F667AE8}"/>
              </a:ext>
            </a:extLst>
          </p:cNvPr>
          <p:cNvSpPr>
            <a:spLocks noGrp="1"/>
          </p:cNvSpPr>
          <p:nvPr/>
        </p:nvSpPr>
        <p:spPr>
          <a:xfrm>
            <a:off x="6429375" y="2038350"/>
            <a:ext cx="21478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MC sweeps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7B7D7950-AD87-4A8F-BB0C-A964A28C0FB0}"/>
              </a:ext>
            </a:extLst>
          </p:cNvPr>
          <p:cNvSpPr>
            <a:spLocks noGrp="1"/>
          </p:cNvSpPr>
          <p:nvPr/>
        </p:nvSpPr>
        <p:spPr>
          <a:xfrm>
            <a:off x="9072563" y="1809750"/>
            <a:ext cx="2490788" cy="1695450"/>
          </a:xfrm>
          <a:prstGeom prst="roundRect">
            <a:avLst>
              <a:gd name="adj" fmla="val 4494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5DD72008-1CA7-4BFC-B49C-24DB85A85A33}"/>
              </a:ext>
            </a:extLst>
          </p:cNvPr>
          <p:cNvSpPr>
            <a:spLocks noGrp="1"/>
          </p:cNvSpPr>
          <p:nvPr/>
        </p:nvSpPr>
        <p:spPr>
          <a:xfrm>
            <a:off x="9244013" y="2038350"/>
            <a:ext cx="21478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951DAC8E-F960-4EBA-A041-F1865ED45A77}"/>
              </a:ext>
            </a:extLst>
          </p:cNvPr>
          <p:cNvSpPr>
            <a:spLocks noGrp="1"/>
          </p:cNvSpPr>
          <p:nvPr/>
        </p:nvSpPr>
        <p:spPr>
          <a:xfrm>
            <a:off x="9244013" y="2552700"/>
            <a:ext cx="2147888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until Tₘᵢₙ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FFC6561-8EF1-439C-813A-CDDC1370B9E7}"/>
              </a:ext>
            </a:extLst>
          </p:cNvPr>
          <p:cNvSpPr>
            <a:spLocks noGrp="1"/>
          </p:cNvSpPr>
          <p:nvPr/>
        </p:nvSpPr>
        <p:spPr>
          <a:xfrm>
            <a:off x="2381250" y="39052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The M trajectories never communicate.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6900B6FE-2C28-4BDB-8FEE-76F73712CC27}"/>
              </a:ext>
            </a:extLst>
          </p:cNvPr>
          <p:cNvSpPr>
            <a:spLocks noGrp="1"/>
          </p:cNvSpPr>
          <p:nvPr/>
        </p:nvSpPr>
        <p:spPr>
          <a:xfrm>
            <a:off x="819150" y="4810125"/>
            <a:ext cx="47625" cy="990600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54DCC097-EC7B-4FC7-A6E6-16B3DFF6C43E}"/>
              </a:ext>
            </a:extLst>
          </p:cNvPr>
          <p:cNvSpPr>
            <a:spLocks noGrp="1"/>
          </p:cNvSpPr>
          <p:nvPr/>
        </p:nvSpPr>
        <p:spPr>
          <a:xfrm>
            <a:off x="1009650" y="4810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Fair benchmark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177BB609-09EE-444A-8793-9569465FEB14}"/>
              </a:ext>
            </a:extLst>
          </p:cNvPr>
          <p:cNvSpPr>
            <a:spLocks noGrp="1"/>
          </p:cNvSpPr>
          <p:nvPr/>
        </p:nvSpPr>
        <p:spPr>
          <a:xfrm>
            <a:off x="1009650" y="5133975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We run M replicas in parallel even though standard SA needs only one.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62542393-E292-47F0-BD9D-CCD20EE36260}"/>
              </a:ext>
            </a:extLst>
          </p:cNvPr>
          <p:cNvSpPr>
            <a:spLocks noGrp="1"/>
          </p:cNvSpPr>
          <p:nvPr/>
        </p:nvSpPr>
        <p:spPr>
          <a:xfrm>
            <a:off x="4476750" y="4810125"/>
            <a:ext cx="47625" cy="990600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E6F4832B-44A1-4FB5-AF6C-DA30B8F9403A}"/>
              </a:ext>
            </a:extLst>
          </p:cNvPr>
          <p:cNvSpPr>
            <a:spLocks noGrp="1"/>
          </p:cNvSpPr>
          <p:nvPr/>
        </p:nvSpPr>
        <p:spPr>
          <a:xfrm>
            <a:off x="4667250" y="4810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Exploration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43CF3AFD-3A42-4DF5-A50E-A7E9A637A157}"/>
              </a:ext>
            </a:extLst>
          </p:cNvPr>
          <p:cNvSpPr>
            <a:spLocks noGrp="1"/>
          </p:cNvSpPr>
          <p:nvPr/>
        </p:nvSpPr>
        <p:spPr>
          <a:xfrm>
            <a:off x="4667250" y="5133975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Only local spin flips cross barriers; low-T dynamics can </a:t>
            </a:r>
            <a:r>
              <a:rPr sz="1238">
                <a:solidFill>
                  <a:srgbClr val="5B6472"/>
                </a:solidFill>
                <a:latin typeface="Arial"/>
                <a:ea typeface="Arial"/>
                <a:cs typeface="Arial"/>
              </a:rPr>
              <a:t>stall.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685D9C1E-53C2-49A3-B884-AA94464E2665}"/>
              </a:ext>
            </a:extLst>
          </p:cNvPr>
          <p:cNvSpPr>
            <a:spLocks noGrp="1"/>
          </p:cNvSpPr>
          <p:nvPr/>
        </p:nvSpPr>
        <p:spPr>
          <a:xfrm>
            <a:off x="8134350" y="4810125"/>
            <a:ext cx="47625" cy="990600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7CB277F-61CF-4DCF-BDE2-24DE1418010D}"/>
              </a:ext>
            </a:extLst>
          </p:cNvPr>
          <p:cNvSpPr>
            <a:spLocks noGrp="1"/>
          </p:cNvSpPr>
          <p:nvPr/>
        </p:nvSpPr>
        <p:spPr>
          <a:xfrm>
            <a:off x="8324850" y="4810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18D59FAB-0B04-4D2B-AFB3-0C44244F7387}"/>
              </a:ext>
            </a:extLst>
          </p:cNvPr>
          <p:cNvSpPr>
            <a:spLocks noGrp="1"/>
          </p:cNvSpPr>
          <p:nvPr/>
        </p:nvSpPr>
        <p:spPr>
          <a:xfrm>
            <a:off x="8324850" y="5133975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Finding the ground state is largely left to rare independent trajectories.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AEA52CA7-1B28-4532-BB10-E4C3412CD146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9A1F037-A333-4ADD-BAA8-7B3C582A6B06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855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9-title-accent">
            <a:extLst>
              <a:ext uri="{FF2B5EF4-FFF2-40B4-BE49-F238E27FC236}">
                <a16:creationId xmlns:a16="http://schemas.microsoft.com/office/drawing/2014/main" id="{E24F9AA2-2A06-4115-8843-B2D10ECAFCB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9-title">
            <a:extLst>
              <a:ext uri="{FF2B5EF4-FFF2-40B4-BE49-F238E27FC236}">
                <a16:creationId xmlns:a16="http://schemas.microsoft.com/office/drawing/2014/main" id="{999363DE-8473-400B-B90D-10E2EAA625D0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Simulated Annealing: implementation</a:t>
            </a:r>
          </a:p>
        </p:txBody>
      </p:sp>
      <p:sp>
        <p:nvSpPr>
          <p:cNvPr id="3" name="slide-9-topic-background">
            <a:extLst>
              <a:ext uri="{FF2B5EF4-FFF2-40B4-BE49-F238E27FC236}">
                <a16:creationId xmlns:a16="http://schemas.microsoft.com/office/drawing/2014/main" id="{27D5AC87-A38F-4E70-A805-FEE889841B97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9-topic">
            <a:extLst>
              <a:ext uri="{FF2B5EF4-FFF2-40B4-BE49-F238E27FC236}">
                <a16:creationId xmlns:a16="http://schemas.microsoft.com/office/drawing/2014/main" id="{387E6F36-A9D5-40B5-82F1-F0EFEF1B4293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t>CLASSICAL ANNEALING</a:t>
            </a:r>
          </a:p>
        </p:txBody>
      </p:sp>
      <p:sp>
        <p:nvSpPr>
          <p:cNvPr id="5" name="slide-9-header-rule">
            <a:extLst>
              <a:ext uri="{FF2B5EF4-FFF2-40B4-BE49-F238E27FC236}">
                <a16:creationId xmlns:a16="http://schemas.microsoft.com/office/drawing/2014/main" id="{51267FAC-259A-421C-A1CC-A7B8C190AB82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9-number">
            <a:extLst>
              <a:ext uri="{FF2B5EF4-FFF2-40B4-BE49-F238E27FC236}">
                <a16:creationId xmlns:a16="http://schemas.microsoft.com/office/drawing/2014/main" id="{2AA211FE-AC4D-488F-8026-9A7FF26324DC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15A9C70-6F8E-410C-9FE7-E2D6688BC1C1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524750" cy="4762500"/>
          </a:xfrm>
          <a:prstGeom prst="roundRect">
            <a:avLst>
              <a:gd name="adj" fmla="val 160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147874B-7551-4370-B67B-58FBF30A4DBA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52475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879940F-8F69-4AA2-8AAE-6A4914B8FFE3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721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SIMULATED_ANNEALING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0D618F9-4D82-4BA5-AAC8-2FDDED0F1A0D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181850" cy="426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def simulated_annealing(...):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temperatures = temperature_change(T_min, T_max, temp_steps)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population = torch.randint(0, 2, (pop_size, N),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                   device=J.device).float() * 2 - 1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for _ in range(high_thermalisation_steps):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population = montecarlo_step(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population, J, temperatures[0], even, odd)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for T in temperatures[1:]: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for _ in range(mc_steps):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population = montecarlo_step(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    population, J, T, even, odd)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observ.update(population, T=T)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CFDCCF6-CEC0-4944-A0A1-758D158D9E9B}"/>
              </a:ext>
            </a:extLst>
          </p:cNvPr>
          <p:cNvSpPr>
            <a:spLocks noGrp="1"/>
          </p:cNvSpPr>
          <p:nvPr/>
        </p:nvSpPr>
        <p:spPr>
          <a:xfrm>
            <a:off x="8439150" y="1524000"/>
            <a:ext cx="3048000" cy="895350"/>
          </a:xfrm>
          <a:prstGeom prst="roundRect">
            <a:avLst>
              <a:gd name="adj" fmla="val 8511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62E942D-77C3-4EB1-9550-4998DB0F056B}"/>
              </a:ext>
            </a:extLst>
          </p:cNvPr>
          <p:cNvSpPr>
            <a:spLocks noGrp="1"/>
          </p:cNvSpPr>
          <p:nvPr/>
        </p:nvSpPr>
        <p:spPr>
          <a:xfrm>
            <a:off x="8591550" y="16573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1.92 → 0.10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4212BB9-21CD-4009-A75F-51496FE39927}"/>
              </a:ext>
            </a:extLst>
          </p:cNvPr>
          <p:cNvSpPr>
            <a:spLocks noGrp="1"/>
          </p:cNvSpPr>
          <p:nvPr/>
        </p:nvSpPr>
        <p:spPr>
          <a:xfrm>
            <a:off x="8591550" y="209550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Temperature range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D0DEC7DB-B62B-4BB7-9FFC-F06B4999C8BA}"/>
              </a:ext>
            </a:extLst>
          </p:cNvPr>
          <p:cNvSpPr>
            <a:spLocks noGrp="1"/>
          </p:cNvSpPr>
          <p:nvPr/>
        </p:nvSpPr>
        <p:spPr>
          <a:xfrm>
            <a:off x="8439150" y="2590800"/>
            <a:ext cx="3048000" cy="895350"/>
          </a:xfrm>
          <a:prstGeom prst="roundRect">
            <a:avLst>
              <a:gd name="adj" fmla="val 8511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AB30245-E19C-47E5-B830-92B4051A09FD}"/>
              </a:ext>
            </a:extLst>
          </p:cNvPr>
          <p:cNvSpPr>
            <a:spLocks noGrp="1"/>
          </p:cNvSpPr>
          <p:nvPr/>
        </p:nvSpPr>
        <p:spPr>
          <a:xfrm>
            <a:off x="8591550" y="27241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M = 10,000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AD0B471-A3B5-4B95-B3FE-A79D64755C80}"/>
              </a:ext>
            </a:extLst>
          </p:cNvPr>
          <p:cNvSpPr>
            <a:spLocks noGrp="1"/>
          </p:cNvSpPr>
          <p:nvPr/>
        </p:nvSpPr>
        <p:spPr>
          <a:xfrm>
            <a:off x="8591550" y="316230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Parallel replicas in our run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3AC519B2-576D-4521-8CAE-9BDD11B76974}"/>
              </a:ext>
            </a:extLst>
          </p:cNvPr>
          <p:cNvSpPr>
            <a:spLocks noGrp="1"/>
          </p:cNvSpPr>
          <p:nvPr/>
        </p:nvSpPr>
        <p:spPr>
          <a:xfrm>
            <a:off x="8439150" y="3657600"/>
            <a:ext cx="3048000" cy="895350"/>
          </a:xfrm>
          <a:prstGeom prst="roundRect">
            <a:avLst>
              <a:gd name="adj" fmla="val 8511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AB0BAE4-E973-4D9B-A753-4B42EDDCAD1A}"/>
              </a:ext>
            </a:extLst>
          </p:cNvPr>
          <p:cNvSpPr>
            <a:spLocks noGrp="1"/>
          </p:cNvSpPr>
          <p:nvPr/>
        </p:nvSpPr>
        <p:spPr>
          <a:xfrm>
            <a:off x="8591550" y="37909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00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7271548-D0EB-400E-945A-91F3B8557F1F}"/>
              </a:ext>
            </a:extLst>
          </p:cNvPr>
          <p:cNvSpPr>
            <a:spLocks noGrp="1"/>
          </p:cNvSpPr>
          <p:nvPr/>
        </p:nvSpPr>
        <p:spPr>
          <a:xfrm>
            <a:off x="8591550" y="422910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High-T thermalization sweeps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C64CFC6C-4736-4539-B1CC-EF751EAC7A54}"/>
              </a:ext>
            </a:extLst>
          </p:cNvPr>
          <p:cNvSpPr>
            <a:spLocks noGrp="1"/>
          </p:cNvSpPr>
          <p:nvPr/>
        </p:nvSpPr>
        <p:spPr>
          <a:xfrm>
            <a:off x="8439150" y="4724400"/>
            <a:ext cx="3048000" cy="895350"/>
          </a:xfrm>
          <a:prstGeom prst="roundRect">
            <a:avLst>
              <a:gd name="adj" fmla="val 8511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B2734956-5278-4EC4-AAA3-F401117D3B7C}"/>
              </a:ext>
            </a:extLst>
          </p:cNvPr>
          <p:cNvSpPr>
            <a:spLocks noGrp="1"/>
          </p:cNvSpPr>
          <p:nvPr/>
        </p:nvSpPr>
        <p:spPr>
          <a:xfrm>
            <a:off x="8591550" y="48577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320 × 30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296A032-61A8-47DB-90FA-FCC163C01091}"/>
              </a:ext>
            </a:extLst>
          </p:cNvPr>
          <p:cNvSpPr>
            <a:spLocks noGrp="1"/>
          </p:cNvSpPr>
          <p:nvPr/>
        </p:nvSpPr>
        <p:spPr>
          <a:xfrm>
            <a:off x="8591550" y="529590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MC sweeps × temperatures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C6642672-F8ED-47B1-8022-5B406E9F596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94AB1432-8CBD-42ED-8841-84DDB3D5F43D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5435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10-title-accent">
            <a:extLst>
              <a:ext uri="{FF2B5EF4-FFF2-40B4-BE49-F238E27FC236}">
                <a16:creationId xmlns:a16="http://schemas.microsoft.com/office/drawing/2014/main" id="{BA6D5A16-74C8-4149-9943-046420E5D6B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0-title">
            <a:extLst>
              <a:ext uri="{FF2B5EF4-FFF2-40B4-BE49-F238E27FC236}">
                <a16:creationId xmlns:a16="http://schemas.microsoft.com/office/drawing/2014/main" id="{D0F9D8C1-67A0-4AAD-B998-C6475AD55436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6639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Population Annealing</a:t>
            </a:r>
          </a:p>
        </p:txBody>
      </p:sp>
      <p:sp>
        <p:nvSpPr>
          <p:cNvPr id="3" name="slide-10-topic-background">
            <a:extLst>
              <a:ext uri="{FF2B5EF4-FFF2-40B4-BE49-F238E27FC236}">
                <a16:creationId xmlns:a16="http://schemas.microsoft.com/office/drawing/2014/main" id="{E3C9D1E3-FE2D-466D-985F-3D76C26077B6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0-topic">
            <a:extLst>
              <a:ext uri="{FF2B5EF4-FFF2-40B4-BE49-F238E27FC236}">
                <a16:creationId xmlns:a16="http://schemas.microsoft.com/office/drawing/2014/main" id="{476804AA-7E62-4070-A41A-82F3962E4D26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t>CLASSICAL ANNEALING</a:t>
            </a:r>
          </a:p>
        </p:txBody>
      </p:sp>
      <p:sp>
        <p:nvSpPr>
          <p:cNvPr id="5" name="slide-10-header-rule">
            <a:extLst>
              <a:ext uri="{FF2B5EF4-FFF2-40B4-BE49-F238E27FC236}">
                <a16:creationId xmlns:a16="http://schemas.microsoft.com/office/drawing/2014/main" id="{0CEA170F-526C-4F3E-BACA-D2A0CEC9358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0-number">
            <a:extLst>
              <a:ext uri="{FF2B5EF4-FFF2-40B4-BE49-F238E27FC236}">
                <a16:creationId xmlns:a16="http://schemas.microsoft.com/office/drawing/2014/main" id="{F7734878-7A18-4CF7-9975-077ED4011A72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EA416E0B-1CBB-4B71-BBD8-5EC8F149DFC8}"/>
              </a:ext>
            </a:extLst>
          </p:cNvPr>
          <p:cNvSpPr>
            <a:spLocks noGrp="1"/>
          </p:cNvSpPr>
          <p:nvPr/>
        </p:nvSpPr>
        <p:spPr>
          <a:xfrm>
            <a:off x="2564130" y="2371725"/>
            <a:ext cx="200025" cy="228600"/>
          </a:xfrm>
          <a:prstGeom prst="rightArrow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8C3CF9D1-3C6A-444B-8418-24B6DC81CA12}"/>
              </a:ext>
            </a:extLst>
          </p:cNvPr>
          <p:cNvSpPr>
            <a:spLocks noGrp="1"/>
          </p:cNvSpPr>
          <p:nvPr/>
        </p:nvSpPr>
        <p:spPr>
          <a:xfrm>
            <a:off x="4852035" y="2371725"/>
            <a:ext cx="200025" cy="228600"/>
          </a:xfrm>
          <a:prstGeom prst="rightArrow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6C40CE07-C2B3-4A07-A293-727AB0E0FCD3}"/>
              </a:ext>
            </a:extLst>
          </p:cNvPr>
          <p:cNvSpPr>
            <a:spLocks noGrp="1"/>
          </p:cNvSpPr>
          <p:nvPr/>
        </p:nvSpPr>
        <p:spPr>
          <a:xfrm>
            <a:off x="7139940" y="2371725"/>
            <a:ext cx="200025" cy="228600"/>
          </a:xfrm>
          <a:prstGeom prst="rightArrow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A6A23B5B-C0D5-4E53-B7B0-12C4D5486959}"/>
              </a:ext>
            </a:extLst>
          </p:cNvPr>
          <p:cNvSpPr>
            <a:spLocks noGrp="1"/>
          </p:cNvSpPr>
          <p:nvPr/>
        </p:nvSpPr>
        <p:spPr>
          <a:xfrm>
            <a:off x="9427845" y="2371725"/>
            <a:ext cx="200025" cy="228600"/>
          </a:xfrm>
          <a:prstGeom prst="rightArrow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44B80E6-9EE9-47E4-B9A4-6BC528DE3AC2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F6DDDD"/>
          </a:solidFill>
          <a:ln w="11430">
            <a:solidFill>
              <a:srgbClr val="E7B1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B5A8419-3B85-44CE-8060-19B7BF2C5B7E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Population at β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EE48CF5-0D2A-420B-98C3-42CE78B4726F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 replicas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8BAAEFE9-38EF-4A7C-9355-D23697B229B7}"/>
              </a:ext>
            </a:extLst>
          </p:cNvPr>
          <p:cNvSpPr>
            <a:spLocks noGrp="1"/>
          </p:cNvSpPr>
          <p:nvPr/>
        </p:nvSpPr>
        <p:spPr>
          <a:xfrm>
            <a:off x="2783205" y="16764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F6DDDD"/>
          </a:solidFill>
          <a:ln w="11430">
            <a:solidFill>
              <a:srgbClr val="E7B1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35010CD-4FA4-4361-9514-5BFF1C6B2FFD}"/>
              </a:ext>
            </a:extLst>
          </p:cNvPr>
          <p:cNvSpPr>
            <a:spLocks noGrp="1"/>
          </p:cNvSpPr>
          <p:nvPr/>
        </p:nvSpPr>
        <p:spPr>
          <a:xfrm>
            <a:off x="2954655" y="19050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Lower 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E6C2411-DB76-4E19-9A12-5886210EDD6E}"/>
              </a:ext>
            </a:extLst>
          </p:cNvPr>
          <p:cNvSpPr>
            <a:spLocks noGrp="1"/>
          </p:cNvSpPr>
          <p:nvPr/>
        </p:nvSpPr>
        <p:spPr>
          <a:xfrm>
            <a:off x="2954655" y="24193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β′ &gt; β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EE48F767-3A5C-4D5B-9AF2-71BECAA2A2DC}"/>
              </a:ext>
            </a:extLst>
          </p:cNvPr>
          <p:cNvSpPr>
            <a:spLocks noGrp="1"/>
          </p:cNvSpPr>
          <p:nvPr/>
        </p:nvSpPr>
        <p:spPr>
          <a:xfrm>
            <a:off x="5071110" y="16764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F1C7C7"/>
          </a:solidFill>
          <a:ln w="11430">
            <a:solidFill>
              <a:srgbClr val="C431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A9E1DCC-8641-4F4B-A7EC-891AB1DCA016}"/>
              </a:ext>
            </a:extLst>
          </p:cNvPr>
          <p:cNvSpPr>
            <a:spLocks noGrp="1"/>
          </p:cNvSpPr>
          <p:nvPr/>
        </p:nvSpPr>
        <p:spPr>
          <a:xfrm>
            <a:off x="5242560" y="19050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Reweight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A09EF2DF-5717-422D-B343-E5E07391ECBB}"/>
              </a:ext>
            </a:extLst>
          </p:cNvPr>
          <p:cNvSpPr>
            <a:spLocks noGrp="1"/>
          </p:cNvSpPr>
          <p:nvPr/>
        </p:nvSpPr>
        <p:spPr>
          <a:xfrm>
            <a:off x="5242560" y="24193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wₘ ∝ e⁻⁽ᵝ′⁻ᵝ⁾ᴱᵐ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A9F5099-E5A9-4A70-8D59-F95EE4CAD3E4}"/>
              </a:ext>
            </a:extLst>
          </p:cNvPr>
          <p:cNvSpPr>
            <a:spLocks noGrp="1"/>
          </p:cNvSpPr>
          <p:nvPr/>
        </p:nvSpPr>
        <p:spPr>
          <a:xfrm>
            <a:off x="7359015" y="16764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F1C7C7"/>
          </a:solidFill>
          <a:ln w="11430">
            <a:solidFill>
              <a:srgbClr val="C431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0CC8FCC2-8EB7-4390-8F4D-0E62C14DA587}"/>
              </a:ext>
            </a:extLst>
          </p:cNvPr>
          <p:cNvSpPr>
            <a:spLocks noGrp="1"/>
          </p:cNvSpPr>
          <p:nvPr/>
        </p:nvSpPr>
        <p:spPr>
          <a:xfrm>
            <a:off x="7530465" y="19050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Resample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6542B026-2560-438A-8259-E6B8D542032A}"/>
              </a:ext>
            </a:extLst>
          </p:cNvPr>
          <p:cNvSpPr>
            <a:spLocks noGrp="1"/>
          </p:cNvSpPr>
          <p:nvPr/>
        </p:nvSpPr>
        <p:spPr>
          <a:xfrm>
            <a:off x="7530465" y="24193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copy low-E states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B9E27A5B-E84E-470A-AD17-F8EFC9E77CDE}"/>
              </a:ext>
            </a:extLst>
          </p:cNvPr>
          <p:cNvSpPr>
            <a:spLocks noGrp="1"/>
          </p:cNvSpPr>
          <p:nvPr/>
        </p:nvSpPr>
        <p:spPr>
          <a:xfrm>
            <a:off x="9646920" y="16764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FFFE66E-705F-49AC-BA87-D00B9D67BCCE}"/>
              </a:ext>
            </a:extLst>
          </p:cNvPr>
          <p:cNvSpPr>
            <a:spLocks noGrp="1"/>
          </p:cNvSpPr>
          <p:nvPr/>
        </p:nvSpPr>
        <p:spPr>
          <a:xfrm>
            <a:off x="9818370" y="19050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MC sweeps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9AF24D23-B9A7-4F96-A3B0-F1544BF66858}"/>
              </a:ext>
            </a:extLst>
          </p:cNvPr>
          <p:cNvSpPr>
            <a:spLocks noGrp="1"/>
          </p:cNvSpPr>
          <p:nvPr/>
        </p:nvSpPr>
        <p:spPr>
          <a:xfrm>
            <a:off x="2619375" y="3676650"/>
            <a:ext cx="6953250" cy="723900"/>
          </a:xfrm>
          <a:prstGeom prst="roundRect">
            <a:avLst>
              <a:gd name="adj" fmla="val 10526"/>
            </a:avLst>
          </a:prstGeom>
          <a:solidFill>
            <a:srgbClr val="F6DDDD"/>
          </a:solidFill>
          <a:ln w="9525">
            <a:solidFill>
              <a:srgbClr val="E7B1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B174986F-29FD-4C5D-A56E-BCF5A1D1D791}"/>
              </a:ext>
            </a:extLst>
          </p:cNvPr>
          <p:cNvSpPr>
            <a:spLocks noGrp="1"/>
          </p:cNvSpPr>
          <p:nvPr/>
        </p:nvSpPr>
        <p:spPr>
          <a:xfrm>
            <a:off x="2809875" y="3771900"/>
            <a:ext cx="657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pₘ = softmax[−(Eₘ−Eₘᵢₙ)(β′−β)]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29CE84F-87FE-432C-A7CB-CCE6CE29BCC1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47625" cy="9906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07657FB4-A751-4574-998C-D88D07E95D87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43131"/>
                </a:solidFill>
                <a:latin typeface="Arial"/>
                <a:ea typeface="Arial"/>
                <a:cs typeface="Arial"/>
              </a:rPr>
              <a:t>Information sharing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0485A38F-62DB-4AC0-8E65-BDE4EB1A4529}"/>
              </a:ext>
            </a:extLst>
          </p:cNvPr>
          <p:cNvSpPr>
            <a:spLocks noGrp="1"/>
          </p:cNvSpPr>
          <p:nvPr/>
        </p:nvSpPr>
        <p:spPr>
          <a:xfrm>
            <a:off x="1143000" y="5181600"/>
            <a:ext cx="428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When one replica finds a good spin configuration, resampling propagates it across the population.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C8F8E1D7-9269-4DCA-97E9-D50717E2C891}"/>
              </a:ext>
            </a:extLst>
          </p:cNvPr>
          <p:cNvSpPr>
            <a:spLocks noGrp="1"/>
          </p:cNvSpPr>
          <p:nvPr/>
        </p:nvSpPr>
        <p:spPr>
          <a:xfrm>
            <a:off x="6667500" y="4857750"/>
            <a:ext cx="47625" cy="9906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83B2BF9-344A-46A2-84E6-5079FF91F11C}"/>
              </a:ext>
            </a:extLst>
          </p:cNvPr>
          <p:cNvSpPr>
            <a:spLocks noGrp="1"/>
          </p:cNvSpPr>
          <p:nvPr/>
        </p:nvSpPr>
        <p:spPr>
          <a:xfrm>
            <a:off x="6858000" y="48577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43131"/>
                </a:solidFill>
                <a:latin typeface="Arial"/>
                <a:ea typeface="Arial"/>
                <a:cs typeface="Arial"/>
              </a:rPr>
              <a:t>Trade-off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0A884D7-439A-4D35-86C3-BF64282DD89E}"/>
              </a:ext>
            </a:extLst>
          </p:cNvPr>
          <p:cNvSpPr>
            <a:spLocks noGrp="1"/>
          </p:cNvSpPr>
          <p:nvPr/>
        </p:nvSpPr>
        <p:spPr>
          <a:xfrm>
            <a:off x="6858000" y="5181600"/>
            <a:ext cx="428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Resampling reduces high-energy replicas but can also reduce population diversity.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5B73F5B3-47B4-44B0-98AE-E4732FC5FED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7CA6796B-C511-49A0-B1E7-11DF5E34900C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7315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11-title-accent">
            <a:extLst>
              <a:ext uri="{FF2B5EF4-FFF2-40B4-BE49-F238E27FC236}">
                <a16:creationId xmlns:a16="http://schemas.microsoft.com/office/drawing/2014/main" id="{7FF82936-1546-4A9C-963C-A71596D994E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C4313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1-title">
            <a:extLst>
              <a:ext uri="{FF2B5EF4-FFF2-40B4-BE49-F238E27FC236}">
                <a16:creationId xmlns:a16="http://schemas.microsoft.com/office/drawing/2014/main" id="{C94E107D-8309-4670-9868-E5BE4673136C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Population Annealing: implementation</a:t>
            </a:r>
          </a:p>
        </p:txBody>
      </p:sp>
      <p:sp>
        <p:nvSpPr>
          <p:cNvPr id="3" name="slide-11-topic-background">
            <a:extLst>
              <a:ext uri="{FF2B5EF4-FFF2-40B4-BE49-F238E27FC236}">
                <a16:creationId xmlns:a16="http://schemas.microsoft.com/office/drawing/2014/main" id="{ECB241A8-2A11-46C4-8533-B07006264537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1-topic">
            <a:extLst>
              <a:ext uri="{FF2B5EF4-FFF2-40B4-BE49-F238E27FC236}">
                <a16:creationId xmlns:a16="http://schemas.microsoft.com/office/drawing/2014/main" id="{BE74891D-7ED7-4A5E-91A1-5875701981D7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t>CLASSICAL ANNEALING</a:t>
            </a:r>
          </a:p>
        </p:txBody>
      </p:sp>
      <p:sp>
        <p:nvSpPr>
          <p:cNvPr id="5" name="slide-11-header-rule">
            <a:extLst>
              <a:ext uri="{FF2B5EF4-FFF2-40B4-BE49-F238E27FC236}">
                <a16:creationId xmlns:a16="http://schemas.microsoft.com/office/drawing/2014/main" id="{B0F3860A-910A-4E4F-8BD1-89149FA5E18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1-number">
            <a:extLst>
              <a:ext uri="{FF2B5EF4-FFF2-40B4-BE49-F238E27FC236}">
                <a16:creationId xmlns:a16="http://schemas.microsoft.com/office/drawing/2014/main" id="{770C31E4-CD04-44B6-92D4-F6CFB69EADB4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F2EA157C-7E6C-4461-997B-0F9C648C5EB5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524750" cy="4762500"/>
          </a:xfrm>
          <a:prstGeom prst="roundRect">
            <a:avLst>
              <a:gd name="adj" fmla="val 160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C2BD7B3-8FF2-4A9E-93AC-4D21D3D820D2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52475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14757D8-E8ED-452D-8667-52E327BE8288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7219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POPULATION_ANNEALING · RESAMPLE + LOCAL MC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A4BB6E2-4F3A-41EA-BCD3-56C661EE7DC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181850" cy="426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for T in temperatures[1:]: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DeltaB = 1 / T - 1 / oldT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energies = compute_energy(population, J)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shifted = energies - energies.min()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probabilities = torch.softmax(-shifted * DeltaB, dim=0)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indices = torch.multinomial(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probabilities, num_samples=pop_size, replacement=True)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population = population[indices]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for _ in range(mc_steps):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population = montecarlo_step(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population, J, T, even_indices, odd_indices)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observ.update(population, T=T)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oldT = T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5AE1701-6837-410D-89D1-064741E7AB09}"/>
              </a:ext>
            </a:extLst>
          </p:cNvPr>
          <p:cNvSpPr>
            <a:spLocks noGrp="1"/>
          </p:cNvSpPr>
          <p:nvPr/>
        </p:nvSpPr>
        <p:spPr>
          <a:xfrm>
            <a:off x="8382000" y="1657350"/>
            <a:ext cx="3105150" cy="1066800"/>
          </a:xfrm>
          <a:prstGeom prst="roundRect">
            <a:avLst>
              <a:gd name="adj" fmla="val 7143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8EEDC7C-B78F-4CD9-AEB4-847A48BC0B00}"/>
              </a:ext>
            </a:extLst>
          </p:cNvPr>
          <p:cNvSpPr>
            <a:spLocks noGrp="1"/>
          </p:cNvSpPr>
          <p:nvPr/>
        </p:nvSpPr>
        <p:spPr>
          <a:xfrm>
            <a:off x="8534400" y="179070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43131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C7ACCD4-DB0C-4963-9752-D944D390A480}"/>
              </a:ext>
            </a:extLst>
          </p:cNvPr>
          <p:cNvSpPr>
            <a:spLocks noGrp="1"/>
          </p:cNvSpPr>
          <p:nvPr/>
        </p:nvSpPr>
        <p:spPr>
          <a:xfrm>
            <a:off x="8534400" y="22288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Stable normalized weights after shifting E by Eₘᵢₙ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55D343AE-2186-4BA2-99EB-525E74FF0529}"/>
              </a:ext>
            </a:extLst>
          </p:cNvPr>
          <p:cNvSpPr>
            <a:spLocks noGrp="1"/>
          </p:cNvSpPr>
          <p:nvPr/>
        </p:nvSpPr>
        <p:spPr>
          <a:xfrm>
            <a:off x="8382000" y="2990850"/>
            <a:ext cx="3105150" cy="1066800"/>
          </a:xfrm>
          <a:prstGeom prst="roundRect">
            <a:avLst>
              <a:gd name="adj" fmla="val 7143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C661C62-BDBD-45D4-A47E-E976507C28C5}"/>
              </a:ext>
            </a:extLst>
          </p:cNvPr>
          <p:cNvSpPr>
            <a:spLocks noGrp="1"/>
          </p:cNvSpPr>
          <p:nvPr/>
        </p:nvSpPr>
        <p:spPr>
          <a:xfrm>
            <a:off x="8534400" y="312420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43131"/>
                </a:solidFill>
                <a:latin typeface="Arial"/>
                <a:ea typeface="Arial"/>
                <a:cs typeface="Arial"/>
              </a:rPr>
              <a:t>replacement=True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72B57999-CB48-4769-83F3-E25F20EF585F}"/>
              </a:ext>
            </a:extLst>
          </p:cNvPr>
          <p:cNvSpPr>
            <a:spLocks noGrp="1"/>
          </p:cNvSpPr>
          <p:nvPr/>
        </p:nvSpPr>
        <p:spPr>
          <a:xfrm>
            <a:off x="8534400" y="35623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Low-energy replicas may create multiple descendants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6CEA8F96-5321-41D5-9DBC-D318A97A1E57}"/>
              </a:ext>
            </a:extLst>
          </p:cNvPr>
          <p:cNvSpPr>
            <a:spLocks noGrp="1"/>
          </p:cNvSpPr>
          <p:nvPr/>
        </p:nvSpPr>
        <p:spPr>
          <a:xfrm>
            <a:off x="8382000" y="4324350"/>
            <a:ext cx="3105150" cy="1066800"/>
          </a:xfrm>
          <a:prstGeom prst="roundRect">
            <a:avLst>
              <a:gd name="adj" fmla="val 7143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C8CFB19-B190-4397-A2AC-06467393ACD6}"/>
              </a:ext>
            </a:extLst>
          </p:cNvPr>
          <p:cNvSpPr>
            <a:spLocks noGrp="1"/>
          </p:cNvSpPr>
          <p:nvPr/>
        </p:nvSpPr>
        <p:spPr>
          <a:xfrm>
            <a:off x="8534400" y="445770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43131"/>
                </a:solidFill>
                <a:latin typeface="Arial"/>
                <a:ea typeface="Arial"/>
                <a:cs typeface="Arial"/>
              </a:rPr>
              <a:t>local MC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22DC32F-8261-48D6-A79E-7EEED281C54E}"/>
              </a:ext>
            </a:extLst>
          </p:cNvPr>
          <p:cNvSpPr>
            <a:spLocks noGrp="1"/>
          </p:cNvSpPr>
          <p:nvPr/>
        </p:nvSpPr>
        <p:spPr>
          <a:xfrm>
            <a:off x="8534400" y="48958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Mutation restores diversity after selection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DA75122-3877-44F9-ACAB-E97C74DF6BB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5270FB1B-EE14-4D98-8C2B-27FA890F9684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6373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12-title-accent">
            <a:extLst>
              <a:ext uri="{FF2B5EF4-FFF2-40B4-BE49-F238E27FC236}">
                <a16:creationId xmlns:a16="http://schemas.microsoft.com/office/drawing/2014/main" id="{FFA7F6FA-93C3-4A7F-BA5C-758F4F4917E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2-title">
            <a:extLst>
              <a:ext uri="{FF2B5EF4-FFF2-40B4-BE49-F238E27FC236}">
                <a16:creationId xmlns:a16="http://schemas.microsoft.com/office/drawing/2014/main" id="{F984D816-AD3E-4D60-82FC-4E1950EB55E3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9531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Global Annealing</a:t>
            </a:r>
          </a:p>
        </p:txBody>
      </p:sp>
      <p:sp>
        <p:nvSpPr>
          <p:cNvPr id="3" name="slide-12-topic-background">
            <a:extLst>
              <a:ext uri="{FF2B5EF4-FFF2-40B4-BE49-F238E27FC236}">
                <a16:creationId xmlns:a16="http://schemas.microsoft.com/office/drawing/2014/main" id="{DD8E967B-8FDC-41CD-8E3D-36C73A2907FE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2-topic">
            <a:extLst>
              <a:ext uri="{FF2B5EF4-FFF2-40B4-BE49-F238E27FC236}">
                <a16:creationId xmlns:a16="http://schemas.microsoft.com/office/drawing/2014/main" id="{65F3DB67-8A23-4963-AD0F-2E937D8507CB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GLOBAL ANNEALING</a:t>
            </a:r>
          </a:p>
        </p:txBody>
      </p:sp>
      <p:sp>
        <p:nvSpPr>
          <p:cNvPr id="5" name="slide-12-header-rule">
            <a:extLst>
              <a:ext uri="{FF2B5EF4-FFF2-40B4-BE49-F238E27FC236}">
                <a16:creationId xmlns:a16="http://schemas.microsoft.com/office/drawing/2014/main" id="{9BD1B2DA-1AFE-4EDB-964B-BECBCFA9F8EE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2-number">
            <a:extLst>
              <a:ext uri="{FF2B5EF4-FFF2-40B4-BE49-F238E27FC236}">
                <a16:creationId xmlns:a16="http://schemas.microsoft.com/office/drawing/2014/main" id="{6D8F9AFD-4D93-4390-9D84-4D63F8806A1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3D343A9B-A823-430B-AC1E-3BA28A490E87}"/>
              </a:ext>
            </a:extLst>
          </p:cNvPr>
          <p:cNvSpPr>
            <a:spLocks noGrp="1"/>
          </p:cNvSpPr>
          <p:nvPr/>
        </p:nvSpPr>
        <p:spPr>
          <a:xfrm>
            <a:off x="2564130" y="2257425"/>
            <a:ext cx="200025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5F255842-AC96-4FDC-9D67-233F3C294DED}"/>
              </a:ext>
            </a:extLst>
          </p:cNvPr>
          <p:cNvSpPr>
            <a:spLocks noGrp="1"/>
          </p:cNvSpPr>
          <p:nvPr/>
        </p:nvSpPr>
        <p:spPr>
          <a:xfrm>
            <a:off x="4852035" y="2257425"/>
            <a:ext cx="200025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9257B968-EF81-4B52-AC00-6B2B874C9BC7}"/>
              </a:ext>
            </a:extLst>
          </p:cNvPr>
          <p:cNvSpPr>
            <a:spLocks noGrp="1"/>
          </p:cNvSpPr>
          <p:nvPr/>
        </p:nvSpPr>
        <p:spPr>
          <a:xfrm>
            <a:off x="7139940" y="2257425"/>
            <a:ext cx="200025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4F80A61B-51D5-4B3D-BA5B-95195AA93F7C}"/>
              </a:ext>
            </a:extLst>
          </p:cNvPr>
          <p:cNvSpPr>
            <a:spLocks noGrp="1"/>
          </p:cNvSpPr>
          <p:nvPr/>
        </p:nvSpPr>
        <p:spPr>
          <a:xfrm>
            <a:off x="9427845" y="2257425"/>
            <a:ext cx="200025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F0B549A-1FDE-4D57-BADB-A8B8DDA8DE21}"/>
              </a:ext>
            </a:extLst>
          </p:cNvPr>
          <p:cNvSpPr>
            <a:spLocks noGrp="1"/>
          </p:cNvSpPr>
          <p:nvPr/>
        </p:nvSpPr>
        <p:spPr>
          <a:xfrm>
            <a:off x="495300" y="15621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DCE7FF"/>
          </a:solidFill>
          <a:ln w="11430">
            <a:solidFill>
              <a:srgbClr val="B8CA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88AB5DC-3073-4655-B5E3-8D70CE4D10E1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Train MADE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5E6D00A-66E4-4FED-AF7E-901B90123DEC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current population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81F53C1-A7C6-4F50-A65B-E6869D7707EB}"/>
              </a:ext>
            </a:extLst>
          </p:cNvPr>
          <p:cNvSpPr>
            <a:spLocks noGrp="1"/>
          </p:cNvSpPr>
          <p:nvPr/>
        </p:nvSpPr>
        <p:spPr>
          <a:xfrm>
            <a:off x="2783205" y="15621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DCE7FF"/>
          </a:solidFill>
          <a:ln w="11430">
            <a:solidFill>
              <a:srgbClr val="B8CA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A3AAB51-EAC7-440F-9D5F-A9FA0DAF80A4}"/>
              </a:ext>
            </a:extLst>
          </p:cNvPr>
          <p:cNvSpPr>
            <a:spLocks noGrp="1"/>
          </p:cNvSpPr>
          <p:nvPr/>
        </p:nvSpPr>
        <p:spPr>
          <a:xfrm>
            <a:off x="2954655" y="17907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Lower 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3906B27-44DA-41AA-A08B-236AA99BB566}"/>
              </a:ext>
            </a:extLst>
          </p:cNvPr>
          <p:cNvSpPr>
            <a:spLocks noGrp="1"/>
          </p:cNvSpPr>
          <p:nvPr/>
        </p:nvSpPr>
        <p:spPr>
          <a:xfrm>
            <a:off x="2954655" y="23050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β′ &gt; β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E230D54D-D7B2-424B-A685-55747466D477}"/>
              </a:ext>
            </a:extLst>
          </p:cNvPr>
          <p:cNvSpPr>
            <a:spLocks noGrp="1"/>
          </p:cNvSpPr>
          <p:nvPr/>
        </p:nvSpPr>
        <p:spPr>
          <a:xfrm>
            <a:off x="5071110" y="15621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C8D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B7E32DE-0A2D-480E-87C5-BD934757E048}"/>
              </a:ext>
            </a:extLst>
          </p:cNvPr>
          <p:cNvSpPr>
            <a:spLocks noGrp="1"/>
          </p:cNvSpPr>
          <p:nvPr/>
        </p:nvSpPr>
        <p:spPr>
          <a:xfrm>
            <a:off x="5242560" y="17907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Global proposal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CA93612-AEFD-4352-AF06-046BF1951A46}"/>
              </a:ext>
            </a:extLst>
          </p:cNvPr>
          <p:cNvSpPr>
            <a:spLocks noGrp="1"/>
          </p:cNvSpPr>
          <p:nvPr/>
        </p:nvSpPr>
        <p:spPr>
          <a:xfrm>
            <a:off x="5242560" y="23050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×5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50A2E45-1DB9-4236-B8C2-CA6547F89847}"/>
              </a:ext>
            </a:extLst>
          </p:cNvPr>
          <p:cNvSpPr>
            <a:spLocks noGrp="1"/>
          </p:cNvSpPr>
          <p:nvPr/>
        </p:nvSpPr>
        <p:spPr>
          <a:xfrm>
            <a:off x="7359015" y="15621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487A7628-28AD-4AA1-9C57-C646C6A02F2F}"/>
              </a:ext>
            </a:extLst>
          </p:cNvPr>
          <p:cNvSpPr>
            <a:spLocks noGrp="1"/>
          </p:cNvSpPr>
          <p:nvPr/>
        </p:nvSpPr>
        <p:spPr>
          <a:xfrm>
            <a:off x="7530465" y="17907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sweeps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D8C19EF-E8E8-4D76-9C3B-2CE6BDE59ED2}"/>
              </a:ext>
            </a:extLst>
          </p:cNvPr>
          <p:cNvSpPr>
            <a:spLocks noGrp="1"/>
          </p:cNvSpPr>
          <p:nvPr/>
        </p:nvSpPr>
        <p:spPr>
          <a:xfrm>
            <a:off x="7530465" y="23050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×15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FA2D7B5-6C1C-43CB-94A1-94C14F49845B}"/>
              </a:ext>
            </a:extLst>
          </p:cNvPr>
          <p:cNvSpPr>
            <a:spLocks noGrp="1"/>
          </p:cNvSpPr>
          <p:nvPr/>
        </p:nvSpPr>
        <p:spPr>
          <a:xfrm>
            <a:off x="9646920" y="1562100"/>
            <a:ext cx="2049780" cy="1619250"/>
          </a:xfrm>
          <a:prstGeom prst="roundRect">
            <a:avLst>
              <a:gd name="adj" fmla="val 4706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80EC29A-A8E4-4B8A-9609-AF269B6074B1}"/>
              </a:ext>
            </a:extLst>
          </p:cNvPr>
          <p:cNvSpPr>
            <a:spLocks noGrp="1"/>
          </p:cNvSpPr>
          <p:nvPr/>
        </p:nvSpPr>
        <p:spPr>
          <a:xfrm>
            <a:off x="9818370" y="1790700"/>
            <a:ext cx="1706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Retrain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2874BB17-2388-4D24-9497-55E242905CE8}"/>
              </a:ext>
            </a:extLst>
          </p:cNvPr>
          <p:cNvSpPr>
            <a:spLocks noGrp="1"/>
          </p:cNvSpPr>
          <p:nvPr/>
        </p:nvSpPr>
        <p:spPr>
          <a:xfrm>
            <a:off x="9818370" y="2305050"/>
            <a:ext cx="170688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 epoch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461D26D-1239-4BDD-8D47-D31934D93697}"/>
              </a:ext>
            </a:extLst>
          </p:cNvPr>
          <p:cNvSpPr>
            <a:spLocks noGrp="1"/>
          </p:cNvSpPr>
          <p:nvPr/>
        </p:nvSpPr>
        <p:spPr>
          <a:xfrm>
            <a:off x="3714750" y="3371851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repeat for every lower temperature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4F6F3FC3-BA54-4298-8ED4-E4014BF59D2F}"/>
              </a:ext>
            </a:extLst>
          </p:cNvPr>
          <p:cNvSpPr>
            <a:spLocks noGrp="1"/>
          </p:cNvSpPr>
          <p:nvPr/>
        </p:nvSpPr>
        <p:spPr>
          <a:xfrm>
            <a:off x="628650" y="4038600"/>
            <a:ext cx="4953000" cy="1733550"/>
          </a:xfrm>
          <a:prstGeom prst="roundRect">
            <a:avLst>
              <a:gd name="adj" fmla="val 4396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015848C5-BA76-470C-8EC8-3EA7D3B0A920}"/>
              </a:ext>
            </a:extLst>
          </p:cNvPr>
          <p:cNvSpPr>
            <a:spLocks noGrp="1"/>
          </p:cNvSpPr>
          <p:nvPr/>
        </p:nvSpPr>
        <p:spPr>
          <a:xfrm>
            <a:off x="895350" y="4248150"/>
            <a:ext cx="441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local moves are essential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E0261FD6-E5B9-4C03-B299-1E51D07FB561}"/>
              </a:ext>
            </a:extLst>
          </p:cNvPr>
          <p:cNvSpPr>
            <a:spLocks noGrp="1"/>
          </p:cNvSpPr>
          <p:nvPr/>
        </p:nvSpPr>
        <p:spPr>
          <a:xfrm>
            <a:off x="933450" y="4724400"/>
            <a:ext cx="428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7"/>
              </a:spcAft>
              <a:buNone/>
              <a:defRPr sz="1313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GA₀ does not reliably reach the minimum</a:t>
            </a:r>
          </a:p>
          <a:p>
            <a:pPr algn="l">
              <a:lnSpc>
                <a:spcPct val="105000"/>
              </a:lnSpc>
              <a:spcAft>
                <a:spcPts val="7"/>
              </a:spcAft>
              <a:buNone/>
              <a:defRPr sz="1313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Performance improves up to GA₁₅, then saturates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DDFD21B-1511-4B5F-B7BE-96790F79CBE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930DE6D0-2816-491A-B1D8-40D013925A39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2419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-13-title-accent">
            <a:extLst>
              <a:ext uri="{FF2B5EF4-FFF2-40B4-BE49-F238E27FC236}">
                <a16:creationId xmlns:a16="http://schemas.microsoft.com/office/drawing/2014/main" id="{B8CE5632-2C24-4FE4-890F-82D9F101C78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3-title">
            <a:extLst>
              <a:ext uri="{FF2B5EF4-FFF2-40B4-BE49-F238E27FC236}">
                <a16:creationId xmlns:a16="http://schemas.microsoft.com/office/drawing/2014/main" id="{C444EA07-DA00-4C7B-A000-DE5D0BF57548}"/>
              </a:ext>
            </a:extLst>
          </p:cNvPr>
          <p:cNvSpPr>
            <a:spLocks noGrp="1"/>
          </p:cNvSpPr>
          <p:nvPr/>
        </p:nvSpPr>
        <p:spPr>
          <a:xfrm>
            <a:off x="571499" y="323850"/>
            <a:ext cx="9722875" cy="685800"/>
          </a:xfrm>
          <a:prstGeom prst="rect">
            <a:avLst/>
          </a:prstGeom>
        </p:spPr>
        <p:txBody>
          <a:bodyPr lIns="0" tIns="0" rIns="0" bIns="0" anchor="ctr">
            <a:normAutofit fontScale="92500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MADE (Masked Auto</a:t>
            </a:r>
            <a:r>
              <a:rPr lang="it-IT" dirty="0"/>
              <a:t>encoder for</a:t>
            </a:r>
            <a:r>
              <a:rPr dirty="0"/>
              <a:t> Distribution </a:t>
            </a:r>
            <a:r>
              <a:rPr dirty="0" err="1"/>
              <a:t>Estimat</a:t>
            </a:r>
            <a:r>
              <a:rPr lang="it-IT" dirty="0" err="1"/>
              <a:t>ion</a:t>
            </a:r>
            <a:r>
              <a:rPr dirty="0"/>
              <a:t>)</a:t>
            </a:r>
          </a:p>
        </p:txBody>
      </p:sp>
      <p:sp>
        <p:nvSpPr>
          <p:cNvPr id="3" name="slide-13-topic-background">
            <a:extLst>
              <a:ext uri="{FF2B5EF4-FFF2-40B4-BE49-F238E27FC236}">
                <a16:creationId xmlns:a16="http://schemas.microsoft.com/office/drawing/2014/main" id="{0C038DF2-D619-47A8-8A00-172763090E91}"/>
              </a:ext>
            </a:extLst>
          </p:cNvPr>
          <p:cNvSpPr>
            <a:spLocks noGrp="1"/>
          </p:cNvSpPr>
          <p:nvPr/>
        </p:nvSpPr>
        <p:spPr>
          <a:xfrm>
            <a:off x="10294373" y="266700"/>
            <a:ext cx="1564251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3-topic">
            <a:extLst>
              <a:ext uri="{FF2B5EF4-FFF2-40B4-BE49-F238E27FC236}">
                <a16:creationId xmlns:a16="http://schemas.microsoft.com/office/drawing/2014/main" id="{DDF40F10-6F63-4C21-BF65-8766168C530F}"/>
              </a:ext>
            </a:extLst>
          </p:cNvPr>
          <p:cNvSpPr>
            <a:spLocks noGrp="1"/>
          </p:cNvSpPr>
          <p:nvPr/>
        </p:nvSpPr>
        <p:spPr>
          <a:xfrm>
            <a:off x="9286875" y="4000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GLOBAL ANNEALING</a:t>
            </a:r>
          </a:p>
        </p:txBody>
      </p:sp>
      <p:sp>
        <p:nvSpPr>
          <p:cNvPr id="5" name="slide-13-header-rule">
            <a:extLst>
              <a:ext uri="{FF2B5EF4-FFF2-40B4-BE49-F238E27FC236}">
                <a16:creationId xmlns:a16="http://schemas.microsoft.com/office/drawing/2014/main" id="{60C55C80-2AEE-4616-AC7D-A4B578FB281A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3-number">
            <a:extLst>
              <a:ext uri="{FF2B5EF4-FFF2-40B4-BE49-F238E27FC236}">
                <a16:creationId xmlns:a16="http://schemas.microsoft.com/office/drawing/2014/main" id="{6A277D47-E633-4174-B079-0AAF6226C04D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8FB2625-B055-4D53-8D49-348BCDFA48F5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4857750" cy="685800"/>
          </a:xfrm>
          <a:prstGeom prst="roundRect">
            <a:avLst>
              <a:gd name="adj" fmla="val 11111"/>
            </a:avLst>
          </a:prstGeom>
          <a:solidFill>
            <a:srgbClr val="DCE7FF"/>
          </a:solidFill>
          <a:ln w="9525">
            <a:solidFill>
              <a:srgbClr val="BDD0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ADC8FAF-3C4A-4B17-BA24-94E098F3A753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q_w(s) = ∏ᵢ q_w(sᵢ | s₁,…,sᵢ₋₁)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5498575-63EC-45E2-948E-6DD0CA76B96D}"/>
              </a:ext>
            </a:extLst>
          </p:cNvPr>
          <p:cNvSpPr>
            <a:spLocks noGrp="1"/>
          </p:cNvSpPr>
          <p:nvPr/>
        </p:nvSpPr>
        <p:spPr>
          <a:xfrm>
            <a:off x="1828800" y="274320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F95073A-DBCC-4553-B85B-480D61A955F1}"/>
              </a:ext>
            </a:extLst>
          </p:cNvPr>
          <p:cNvSpPr>
            <a:spLocks noGrp="1"/>
          </p:cNvSpPr>
          <p:nvPr/>
        </p:nvSpPr>
        <p:spPr>
          <a:xfrm>
            <a:off x="2286000" y="274320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E1602AB-7AB7-4758-8816-B07156DBADBB}"/>
              </a:ext>
            </a:extLst>
          </p:cNvPr>
          <p:cNvSpPr>
            <a:spLocks noGrp="1"/>
          </p:cNvSpPr>
          <p:nvPr/>
        </p:nvSpPr>
        <p:spPr>
          <a:xfrm>
            <a:off x="2743200" y="274320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F3565DD-0F90-4A73-94C4-E36F2C57192E}"/>
              </a:ext>
            </a:extLst>
          </p:cNvPr>
          <p:cNvSpPr>
            <a:spLocks noGrp="1"/>
          </p:cNvSpPr>
          <p:nvPr/>
        </p:nvSpPr>
        <p:spPr>
          <a:xfrm>
            <a:off x="3200400" y="274320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FA60A63-8F26-4894-AEE8-1A8B10C70B59}"/>
              </a:ext>
            </a:extLst>
          </p:cNvPr>
          <p:cNvSpPr>
            <a:spLocks noGrp="1"/>
          </p:cNvSpPr>
          <p:nvPr/>
        </p:nvSpPr>
        <p:spPr>
          <a:xfrm>
            <a:off x="1381125" y="3048000"/>
            <a:ext cx="361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6691172-5685-4ABE-9658-AEE94B3AC1EF}"/>
              </a:ext>
            </a:extLst>
          </p:cNvPr>
          <p:cNvSpPr>
            <a:spLocks noGrp="1"/>
          </p:cNvSpPr>
          <p:nvPr/>
        </p:nvSpPr>
        <p:spPr>
          <a:xfrm>
            <a:off x="1828800" y="30480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85DFBD2-FFEA-4A76-89FC-B0BC71593B13}"/>
              </a:ext>
            </a:extLst>
          </p:cNvPr>
          <p:cNvSpPr>
            <a:spLocks noGrp="1"/>
          </p:cNvSpPr>
          <p:nvPr/>
        </p:nvSpPr>
        <p:spPr>
          <a:xfrm>
            <a:off x="1828800" y="30480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95C14A0E-436F-46AC-8E99-01ECAE2173B7}"/>
              </a:ext>
            </a:extLst>
          </p:cNvPr>
          <p:cNvSpPr>
            <a:spLocks noGrp="1"/>
          </p:cNvSpPr>
          <p:nvPr/>
        </p:nvSpPr>
        <p:spPr>
          <a:xfrm>
            <a:off x="2286000" y="30480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5BDFA68-3F6E-4FBC-8D81-C4CB2A0E04BD}"/>
              </a:ext>
            </a:extLst>
          </p:cNvPr>
          <p:cNvSpPr>
            <a:spLocks noGrp="1"/>
          </p:cNvSpPr>
          <p:nvPr/>
        </p:nvSpPr>
        <p:spPr>
          <a:xfrm>
            <a:off x="2286000" y="30480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7E152AF-0022-4A70-94FD-830A86F3DAC9}"/>
              </a:ext>
            </a:extLst>
          </p:cNvPr>
          <p:cNvSpPr>
            <a:spLocks noGrp="1"/>
          </p:cNvSpPr>
          <p:nvPr/>
        </p:nvSpPr>
        <p:spPr>
          <a:xfrm>
            <a:off x="2743200" y="30480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94F12F0B-9C12-4DA5-84BA-BCC2BC3C7CD3}"/>
              </a:ext>
            </a:extLst>
          </p:cNvPr>
          <p:cNvSpPr>
            <a:spLocks noGrp="1"/>
          </p:cNvSpPr>
          <p:nvPr/>
        </p:nvSpPr>
        <p:spPr>
          <a:xfrm>
            <a:off x="2743200" y="30480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E99A04F-7A11-4F26-8DE2-4120DC6A02CF}"/>
              </a:ext>
            </a:extLst>
          </p:cNvPr>
          <p:cNvSpPr>
            <a:spLocks noGrp="1"/>
          </p:cNvSpPr>
          <p:nvPr/>
        </p:nvSpPr>
        <p:spPr>
          <a:xfrm>
            <a:off x="3200400" y="30480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8534F62-3672-469B-88CC-265DB84F93DB}"/>
              </a:ext>
            </a:extLst>
          </p:cNvPr>
          <p:cNvSpPr>
            <a:spLocks noGrp="1"/>
          </p:cNvSpPr>
          <p:nvPr/>
        </p:nvSpPr>
        <p:spPr>
          <a:xfrm>
            <a:off x="3200400" y="30480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26A5DBD8-2F01-460C-B356-CA4D51271F4F}"/>
              </a:ext>
            </a:extLst>
          </p:cNvPr>
          <p:cNvSpPr>
            <a:spLocks noGrp="1"/>
          </p:cNvSpPr>
          <p:nvPr/>
        </p:nvSpPr>
        <p:spPr>
          <a:xfrm>
            <a:off x="1381125" y="3505200"/>
            <a:ext cx="361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E6E6D32-E888-4A1D-8D23-E63D09B59652}"/>
              </a:ext>
            </a:extLst>
          </p:cNvPr>
          <p:cNvSpPr>
            <a:spLocks noGrp="1"/>
          </p:cNvSpPr>
          <p:nvPr/>
        </p:nvSpPr>
        <p:spPr>
          <a:xfrm>
            <a:off x="1828800" y="3505200"/>
            <a:ext cx="428625" cy="428625"/>
          </a:xfrm>
          <a:prstGeom prst="rect">
            <a:avLst/>
          </a:prstGeom>
          <a:solidFill>
            <a:srgbClr val="3D6FE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2C30F72D-A676-44A1-8281-86DBE4D19330}"/>
              </a:ext>
            </a:extLst>
          </p:cNvPr>
          <p:cNvSpPr>
            <a:spLocks noGrp="1"/>
          </p:cNvSpPr>
          <p:nvPr/>
        </p:nvSpPr>
        <p:spPr>
          <a:xfrm>
            <a:off x="1828800" y="35052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A409A52E-1209-4EBA-9F3F-8480CD8EDEAC}"/>
              </a:ext>
            </a:extLst>
          </p:cNvPr>
          <p:cNvSpPr>
            <a:spLocks noGrp="1"/>
          </p:cNvSpPr>
          <p:nvPr/>
        </p:nvSpPr>
        <p:spPr>
          <a:xfrm>
            <a:off x="2286000" y="35052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53AC46EC-A79D-492B-AAA6-8BE2C858C276}"/>
              </a:ext>
            </a:extLst>
          </p:cNvPr>
          <p:cNvSpPr>
            <a:spLocks noGrp="1"/>
          </p:cNvSpPr>
          <p:nvPr/>
        </p:nvSpPr>
        <p:spPr>
          <a:xfrm>
            <a:off x="2286000" y="35052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69D146A8-F61B-410E-82BA-509A62DDE61F}"/>
              </a:ext>
            </a:extLst>
          </p:cNvPr>
          <p:cNvSpPr>
            <a:spLocks noGrp="1"/>
          </p:cNvSpPr>
          <p:nvPr/>
        </p:nvSpPr>
        <p:spPr>
          <a:xfrm>
            <a:off x="2743200" y="35052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BAEAB7AB-EFA1-4286-A2B8-BD04A0A9EFD1}"/>
              </a:ext>
            </a:extLst>
          </p:cNvPr>
          <p:cNvSpPr>
            <a:spLocks noGrp="1"/>
          </p:cNvSpPr>
          <p:nvPr/>
        </p:nvSpPr>
        <p:spPr>
          <a:xfrm>
            <a:off x="2743200" y="35052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AEA58217-776A-45FF-BA7D-12A202F5A042}"/>
              </a:ext>
            </a:extLst>
          </p:cNvPr>
          <p:cNvSpPr>
            <a:spLocks noGrp="1"/>
          </p:cNvSpPr>
          <p:nvPr/>
        </p:nvSpPr>
        <p:spPr>
          <a:xfrm>
            <a:off x="3200400" y="35052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5F43A06-27E1-4276-BDE3-D955B4D19C62}"/>
              </a:ext>
            </a:extLst>
          </p:cNvPr>
          <p:cNvSpPr>
            <a:spLocks noGrp="1"/>
          </p:cNvSpPr>
          <p:nvPr/>
        </p:nvSpPr>
        <p:spPr>
          <a:xfrm>
            <a:off x="3200400" y="35052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26DC6E16-C021-4C1A-A8BF-0194334D2C09}"/>
              </a:ext>
            </a:extLst>
          </p:cNvPr>
          <p:cNvSpPr>
            <a:spLocks noGrp="1"/>
          </p:cNvSpPr>
          <p:nvPr/>
        </p:nvSpPr>
        <p:spPr>
          <a:xfrm>
            <a:off x="1381125" y="3962400"/>
            <a:ext cx="361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7EBF3175-BE1F-4FB2-8813-CE13AF9B37D8}"/>
              </a:ext>
            </a:extLst>
          </p:cNvPr>
          <p:cNvSpPr>
            <a:spLocks noGrp="1"/>
          </p:cNvSpPr>
          <p:nvPr/>
        </p:nvSpPr>
        <p:spPr>
          <a:xfrm>
            <a:off x="1828800" y="3962400"/>
            <a:ext cx="428625" cy="428625"/>
          </a:xfrm>
          <a:prstGeom prst="rect">
            <a:avLst/>
          </a:prstGeom>
          <a:solidFill>
            <a:srgbClr val="3D6FE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A779AF27-6CC3-480C-90C9-53F2E275477F}"/>
              </a:ext>
            </a:extLst>
          </p:cNvPr>
          <p:cNvSpPr>
            <a:spLocks noGrp="1"/>
          </p:cNvSpPr>
          <p:nvPr/>
        </p:nvSpPr>
        <p:spPr>
          <a:xfrm>
            <a:off x="1828800" y="39624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C018B6B9-1585-4CC9-86D6-D48860314D82}"/>
              </a:ext>
            </a:extLst>
          </p:cNvPr>
          <p:cNvSpPr>
            <a:spLocks noGrp="1"/>
          </p:cNvSpPr>
          <p:nvPr/>
        </p:nvSpPr>
        <p:spPr>
          <a:xfrm>
            <a:off x="2286000" y="3962400"/>
            <a:ext cx="428625" cy="428625"/>
          </a:xfrm>
          <a:prstGeom prst="rect">
            <a:avLst/>
          </a:prstGeom>
          <a:solidFill>
            <a:srgbClr val="3D6FE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573CE696-2E71-4AAF-A661-D568667576C9}"/>
              </a:ext>
            </a:extLst>
          </p:cNvPr>
          <p:cNvSpPr>
            <a:spLocks noGrp="1"/>
          </p:cNvSpPr>
          <p:nvPr/>
        </p:nvSpPr>
        <p:spPr>
          <a:xfrm>
            <a:off x="2286000" y="39624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5BD420A7-E740-43BB-980C-EFE97AB11622}"/>
              </a:ext>
            </a:extLst>
          </p:cNvPr>
          <p:cNvSpPr>
            <a:spLocks noGrp="1"/>
          </p:cNvSpPr>
          <p:nvPr/>
        </p:nvSpPr>
        <p:spPr>
          <a:xfrm>
            <a:off x="2743200" y="39624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95BF934C-8386-4C3D-9654-F85CDBD66418}"/>
              </a:ext>
            </a:extLst>
          </p:cNvPr>
          <p:cNvSpPr>
            <a:spLocks noGrp="1"/>
          </p:cNvSpPr>
          <p:nvPr/>
        </p:nvSpPr>
        <p:spPr>
          <a:xfrm>
            <a:off x="2743200" y="39624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1B394E0C-D3E0-47F4-8DA7-EB3FCE1E2E45}"/>
              </a:ext>
            </a:extLst>
          </p:cNvPr>
          <p:cNvSpPr>
            <a:spLocks noGrp="1"/>
          </p:cNvSpPr>
          <p:nvPr/>
        </p:nvSpPr>
        <p:spPr>
          <a:xfrm>
            <a:off x="3200400" y="39624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0A2D2F49-326C-4800-A95A-A24C5E579F35}"/>
              </a:ext>
            </a:extLst>
          </p:cNvPr>
          <p:cNvSpPr>
            <a:spLocks noGrp="1"/>
          </p:cNvSpPr>
          <p:nvPr/>
        </p:nvSpPr>
        <p:spPr>
          <a:xfrm>
            <a:off x="3200400" y="39624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4A1974AA-4942-4F6F-947D-A2AC0A6946D6}"/>
              </a:ext>
            </a:extLst>
          </p:cNvPr>
          <p:cNvSpPr>
            <a:spLocks noGrp="1"/>
          </p:cNvSpPr>
          <p:nvPr/>
        </p:nvSpPr>
        <p:spPr>
          <a:xfrm>
            <a:off x="1381125" y="4419600"/>
            <a:ext cx="361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4228265D-29CF-4D91-B4A2-E6E06C57681C}"/>
              </a:ext>
            </a:extLst>
          </p:cNvPr>
          <p:cNvSpPr>
            <a:spLocks noGrp="1"/>
          </p:cNvSpPr>
          <p:nvPr/>
        </p:nvSpPr>
        <p:spPr>
          <a:xfrm>
            <a:off x="1828800" y="4419600"/>
            <a:ext cx="428625" cy="428625"/>
          </a:xfrm>
          <a:prstGeom prst="rect">
            <a:avLst/>
          </a:prstGeom>
          <a:solidFill>
            <a:srgbClr val="3D6FE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83ECFB99-6497-4518-A8CA-B1F6537ACC65}"/>
              </a:ext>
            </a:extLst>
          </p:cNvPr>
          <p:cNvSpPr>
            <a:spLocks noGrp="1"/>
          </p:cNvSpPr>
          <p:nvPr/>
        </p:nvSpPr>
        <p:spPr>
          <a:xfrm>
            <a:off x="1828800" y="44196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7F43174C-1C9C-4460-94CC-AF76DB813164}"/>
              </a:ext>
            </a:extLst>
          </p:cNvPr>
          <p:cNvSpPr>
            <a:spLocks noGrp="1"/>
          </p:cNvSpPr>
          <p:nvPr/>
        </p:nvSpPr>
        <p:spPr>
          <a:xfrm>
            <a:off x="2286000" y="4419600"/>
            <a:ext cx="428625" cy="428625"/>
          </a:xfrm>
          <a:prstGeom prst="rect">
            <a:avLst/>
          </a:prstGeom>
          <a:solidFill>
            <a:srgbClr val="3D6FE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954ECC00-A6B4-4683-8C9F-6960E703B175}"/>
              </a:ext>
            </a:extLst>
          </p:cNvPr>
          <p:cNvSpPr>
            <a:spLocks noGrp="1"/>
          </p:cNvSpPr>
          <p:nvPr/>
        </p:nvSpPr>
        <p:spPr>
          <a:xfrm>
            <a:off x="2286000" y="44196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9EEBF41C-8EC0-449A-88E3-2D356D58F882}"/>
              </a:ext>
            </a:extLst>
          </p:cNvPr>
          <p:cNvSpPr>
            <a:spLocks noGrp="1"/>
          </p:cNvSpPr>
          <p:nvPr/>
        </p:nvSpPr>
        <p:spPr>
          <a:xfrm>
            <a:off x="2743200" y="4419600"/>
            <a:ext cx="428625" cy="428625"/>
          </a:xfrm>
          <a:prstGeom prst="rect">
            <a:avLst/>
          </a:prstGeom>
          <a:solidFill>
            <a:srgbClr val="3D6FE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78CF4009-752A-46BA-9E24-1B8F9F7512CC}"/>
              </a:ext>
            </a:extLst>
          </p:cNvPr>
          <p:cNvSpPr>
            <a:spLocks noGrp="1"/>
          </p:cNvSpPr>
          <p:nvPr/>
        </p:nvSpPr>
        <p:spPr>
          <a:xfrm>
            <a:off x="2743200" y="44196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A971A605-B210-4405-A23B-7DBA055A5738}"/>
              </a:ext>
            </a:extLst>
          </p:cNvPr>
          <p:cNvSpPr>
            <a:spLocks noGrp="1"/>
          </p:cNvSpPr>
          <p:nvPr/>
        </p:nvSpPr>
        <p:spPr>
          <a:xfrm>
            <a:off x="3200400" y="4419600"/>
            <a:ext cx="428625" cy="428625"/>
          </a:xfrm>
          <a:prstGeom prst="rect">
            <a:avLst/>
          </a:prstGeom>
          <a:solidFill>
            <a:srgbClr val="F2F3F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EDE99D7D-F5E0-4B1C-881F-9DDCD80043E9}"/>
              </a:ext>
            </a:extLst>
          </p:cNvPr>
          <p:cNvSpPr>
            <a:spLocks noGrp="1"/>
          </p:cNvSpPr>
          <p:nvPr/>
        </p:nvSpPr>
        <p:spPr>
          <a:xfrm>
            <a:off x="3200400" y="4419600"/>
            <a:ext cx="428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B1FBB6D7-58DE-4FF3-9376-4F30DF8BBF79}"/>
              </a:ext>
            </a:extLst>
          </p:cNvPr>
          <p:cNvSpPr>
            <a:spLocks noGrp="1"/>
          </p:cNvSpPr>
          <p:nvPr/>
        </p:nvSpPr>
        <p:spPr>
          <a:xfrm>
            <a:off x="1619250" y="5010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wᵢⱼ = 0 for j ≥ i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2F0BC4AD-C2ED-45F2-83BD-60C93FD4AD29}"/>
              </a:ext>
            </a:extLst>
          </p:cNvPr>
          <p:cNvSpPr>
            <a:spLocks noGrp="1"/>
          </p:cNvSpPr>
          <p:nvPr/>
        </p:nvSpPr>
        <p:spPr>
          <a:xfrm>
            <a:off x="919162" y="5514975"/>
            <a:ext cx="3590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single dense layer · no bias · sigmoid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980991FF-AC9A-4482-9319-AAD86D9ABE79}"/>
              </a:ext>
            </a:extLst>
          </p:cNvPr>
          <p:cNvSpPr>
            <a:spLocks noGrp="1"/>
          </p:cNvSpPr>
          <p:nvPr/>
        </p:nvSpPr>
        <p:spPr>
          <a:xfrm>
            <a:off x="5810250" y="1409700"/>
            <a:ext cx="5810250" cy="4514850"/>
          </a:xfrm>
          <a:prstGeom prst="roundRect">
            <a:avLst>
              <a:gd name="adj" fmla="val 1688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0AAB5085-7149-46AB-8498-5D8E8AC86A45}"/>
              </a:ext>
            </a:extLst>
          </p:cNvPr>
          <p:cNvSpPr>
            <a:spLocks noGrp="1"/>
          </p:cNvSpPr>
          <p:nvPr/>
        </p:nvSpPr>
        <p:spPr>
          <a:xfrm>
            <a:off x="5810250" y="1409700"/>
            <a:ext cx="581025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3D727B99-3F1B-48CD-8F02-F26E0019E4A7}"/>
              </a:ext>
            </a:extLst>
          </p:cNvPr>
          <p:cNvSpPr>
            <a:spLocks noGrp="1"/>
          </p:cNvSpPr>
          <p:nvPr/>
        </p:nvSpPr>
        <p:spPr>
          <a:xfrm>
            <a:off x="5962650" y="1457325"/>
            <a:ext cx="5505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MADE · FORWARD AND FORWARD_N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F887B695-7D1B-4B3D-9871-7F0C7075B0AF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546735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class MADE(nn.Module):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def __init__(self, input_size):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super().__init__()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self.layer = nn.Linear(input_size, input_size,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                   bias=False)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self.activation = nn.Sigmoid()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def forward(self, x):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return self.activation(2 * self.layer(x))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def forward_n(self, x, n):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nth_row = self.layer.weight[n]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out = torch.einsum("ij,j-&gt;i",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               x[:, :n], nth_row[:n])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return self.activation(2 * out)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DBF07DED-9B4D-410E-8772-65F60FF24563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42C958A3-4AFF-4730-800B-3713D2AE9400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523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-14-title-accent">
            <a:extLst>
              <a:ext uri="{FF2B5EF4-FFF2-40B4-BE49-F238E27FC236}">
                <a16:creationId xmlns:a16="http://schemas.microsoft.com/office/drawing/2014/main" id="{DF75AA26-0E9B-4CB8-8C88-FF1E371542B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4-title">
            <a:extLst>
              <a:ext uri="{FF2B5EF4-FFF2-40B4-BE49-F238E27FC236}">
                <a16:creationId xmlns:a16="http://schemas.microsoft.com/office/drawing/2014/main" id="{78CC6485-2C2C-4C18-BC6F-41EBBDC17A03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Training</a:t>
            </a:r>
          </a:p>
        </p:txBody>
      </p:sp>
      <p:sp>
        <p:nvSpPr>
          <p:cNvPr id="3" name="slide-14-topic-background">
            <a:extLst>
              <a:ext uri="{FF2B5EF4-FFF2-40B4-BE49-F238E27FC236}">
                <a16:creationId xmlns:a16="http://schemas.microsoft.com/office/drawing/2014/main" id="{0572E20F-BA32-48EE-B18B-DD10AFE8B20A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4-topic">
            <a:extLst>
              <a:ext uri="{FF2B5EF4-FFF2-40B4-BE49-F238E27FC236}">
                <a16:creationId xmlns:a16="http://schemas.microsoft.com/office/drawing/2014/main" id="{700D4A7E-5DCF-496F-A3A6-558BE619882D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GLOBAL ANNEALING</a:t>
            </a:r>
          </a:p>
        </p:txBody>
      </p:sp>
      <p:sp>
        <p:nvSpPr>
          <p:cNvPr id="5" name="slide-14-header-rule">
            <a:extLst>
              <a:ext uri="{FF2B5EF4-FFF2-40B4-BE49-F238E27FC236}">
                <a16:creationId xmlns:a16="http://schemas.microsoft.com/office/drawing/2014/main" id="{685F3EC5-9276-4C5B-9AF9-5513F072E2E9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4-number">
            <a:extLst>
              <a:ext uri="{FF2B5EF4-FFF2-40B4-BE49-F238E27FC236}">
                <a16:creationId xmlns:a16="http://schemas.microsoft.com/office/drawing/2014/main" id="{33B8F15F-C539-4097-B069-27C009773A7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6020E38-5302-4D2C-B015-551647966DB8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6477000" cy="4762500"/>
          </a:xfrm>
          <a:prstGeom prst="roundRect">
            <a:avLst>
              <a:gd name="adj" fmla="val 160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CA8D1EF-FCFD-41AC-A209-26E071D57EF8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647700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EA6C23F-5E29-4F4C-A73C-4684953B8AF6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6172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TRAIN_MADE · INITIAL TRAINING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B4F997C-EB89-47C2-8B31-1642CFF5CA1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6134100" cy="426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model = MADE(input_size).to(device)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optimizer = optim.Adam(model.parameters(), lr=1e-3)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criterion = nn.BCELoss(reduction="sum")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scheduler = ExponentialLR(optimizer, gamma=0.5)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for epoch in range(40):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for _ in range(len(data) // 256):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batch = data[torch.randint(len(data), (256,))]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output = model(batch)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target = (batch + 1) / 2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loss = criterion(output, target)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optimizer.zero_grad()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loss.backward()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optimizer.step()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model.apply(clipper)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if (epoch + 1) % 10 == 0:</a:t>
            </a:r>
          </a:p>
          <a:p>
            <a:pPr algn="l">
              <a:lnSpc>
                <a:spcPct val="92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scheduler.step()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5B6D93ED-6233-417D-9ADA-459698336EF9}"/>
              </a:ext>
            </a:extLst>
          </p:cNvPr>
          <p:cNvSpPr>
            <a:spLocks noGrp="1"/>
          </p:cNvSpPr>
          <p:nvPr/>
        </p:nvSpPr>
        <p:spPr>
          <a:xfrm>
            <a:off x="7334250" y="1428750"/>
            <a:ext cx="4171950" cy="762000"/>
          </a:xfrm>
          <a:prstGeom prst="roundRect">
            <a:avLst>
              <a:gd name="adj" fmla="val 10000"/>
            </a:avLst>
          </a:prstGeom>
          <a:solidFill>
            <a:srgbClr val="DCE7FF"/>
          </a:solidFill>
          <a:ln w="9525">
            <a:solidFill>
              <a:srgbClr val="BDD0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30CAE34-98E7-4BFA-BD7D-F95C5C147C91}"/>
              </a:ext>
            </a:extLst>
          </p:cNvPr>
          <p:cNvSpPr>
            <a:spLocks noGrp="1"/>
          </p:cNvSpPr>
          <p:nvPr/>
        </p:nvSpPr>
        <p:spPr>
          <a:xfrm>
            <a:off x="7524750" y="1524000"/>
            <a:ext cx="3790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BCE = −Σ log q_w(s)  ≡  KL[p_GB ‖ q_w] + const.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CC5FD48-C2CC-414D-A47E-A494BBC71438}"/>
              </a:ext>
            </a:extLst>
          </p:cNvPr>
          <p:cNvSpPr>
            <a:spLocks noGrp="1"/>
          </p:cNvSpPr>
          <p:nvPr/>
        </p:nvSpPr>
        <p:spPr>
          <a:xfrm>
            <a:off x="7334250" y="2476500"/>
            <a:ext cx="4171950" cy="38100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1F5A0FC-07CC-4D8A-AF93-E26827414B30}"/>
              </a:ext>
            </a:extLst>
          </p:cNvPr>
          <p:cNvSpPr>
            <a:spLocks noGrp="1"/>
          </p:cNvSpPr>
          <p:nvPr/>
        </p:nvSpPr>
        <p:spPr>
          <a:xfrm>
            <a:off x="7486650" y="247650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5008165-AF72-4CAE-B35B-5138847B1983}"/>
              </a:ext>
            </a:extLst>
          </p:cNvPr>
          <p:cNvSpPr>
            <a:spLocks noGrp="1"/>
          </p:cNvSpPr>
          <p:nvPr/>
        </p:nvSpPr>
        <p:spPr>
          <a:xfrm>
            <a:off x="9010650" y="24765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 = 1000 spins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762B2A00-E22A-46DF-B92A-AC94D65FAF12}"/>
              </a:ext>
            </a:extLst>
          </p:cNvPr>
          <p:cNvSpPr>
            <a:spLocks noGrp="1"/>
          </p:cNvSpPr>
          <p:nvPr/>
        </p:nvSpPr>
        <p:spPr>
          <a:xfrm>
            <a:off x="7486650" y="291465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02FAFA08-BAAE-4590-835E-FF0704B945EC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current population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D61794A-D9F7-4AE4-9515-468664594F88}"/>
              </a:ext>
            </a:extLst>
          </p:cNvPr>
          <p:cNvSpPr>
            <a:spLocks noGrp="1"/>
          </p:cNvSpPr>
          <p:nvPr/>
        </p:nvSpPr>
        <p:spPr>
          <a:xfrm>
            <a:off x="7334250" y="3352800"/>
            <a:ext cx="4171950" cy="38100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84F6DC4-EEDE-4772-8BCD-45D770EE16B0}"/>
              </a:ext>
            </a:extLst>
          </p:cNvPr>
          <p:cNvSpPr>
            <a:spLocks noGrp="1"/>
          </p:cNvSpPr>
          <p:nvPr/>
        </p:nvSpPr>
        <p:spPr>
          <a:xfrm>
            <a:off x="7486650" y="335280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Epochs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BA0FB44-20B9-406D-BBFD-42BCB2FDA35E}"/>
              </a:ext>
            </a:extLst>
          </p:cNvPr>
          <p:cNvSpPr>
            <a:spLocks noGrp="1"/>
          </p:cNvSpPr>
          <p:nvPr/>
        </p:nvSpPr>
        <p:spPr>
          <a:xfrm>
            <a:off x="9010650" y="33528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40 initial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3FF6F898-228F-4D12-B17B-90363CFD0F41}"/>
              </a:ext>
            </a:extLst>
          </p:cNvPr>
          <p:cNvSpPr>
            <a:spLocks noGrp="1"/>
          </p:cNvSpPr>
          <p:nvPr/>
        </p:nvSpPr>
        <p:spPr>
          <a:xfrm>
            <a:off x="7486650" y="379095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94B43D84-7494-4FF6-81A9-69025EEC3E1B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256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3EF01590-F436-4492-9F18-F3026234BA1F}"/>
              </a:ext>
            </a:extLst>
          </p:cNvPr>
          <p:cNvSpPr>
            <a:spLocks noGrp="1"/>
          </p:cNvSpPr>
          <p:nvPr/>
        </p:nvSpPr>
        <p:spPr>
          <a:xfrm>
            <a:off x="7334250" y="4229100"/>
            <a:ext cx="4171950" cy="38100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CD822C16-EC15-40A6-965E-8199BE09BE9A}"/>
              </a:ext>
            </a:extLst>
          </p:cNvPr>
          <p:cNvSpPr>
            <a:spLocks noGrp="1"/>
          </p:cNvSpPr>
          <p:nvPr/>
        </p:nvSpPr>
        <p:spPr>
          <a:xfrm>
            <a:off x="7486650" y="422910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676CBF7A-D574-4D90-BAD4-E6F1AD6BF7BA}"/>
              </a:ext>
            </a:extLst>
          </p:cNvPr>
          <p:cNvSpPr>
            <a:spLocks noGrp="1"/>
          </p:cNvSpPr>
          <p:nvPr/>
        </p:nvSpPr>
        <p:spPr>
          <a:xfrm>
            <a:off x="9010650" y="42291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Adam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DEA97514-B354-4C06-BC4B-2B8348DD1F56}"/>
              </a:ext>
            </a:extLst>
          </p:cNvPr>
          <p:cNvSpPr>
            <a:spLocks noGrp="1"/>
          </p:cNvSpPr>
          <p:nvPr/>
        </p:nvSpPr>
        <p:spPr>
          <a:xfrm>
            <a:off x="7486650" y="466725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Learning rate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41DB3230-BB3A-40B9-B0AB-62AA37E874FD}"/>
              </a:ext>
            </a:extLst>
          </p:cNvPr>
          <p:cNvSpPr>
            <a:spLocks noGrp="1"/>
          </p:cNvSpPr>
          <p:nvPr/>
        </p:nvSpPr>
        <p:spPr>
          <a:xfrm>
            <a:off x="9010650" y="46672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10⁻³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EE69074A-1141-4045-92E0-1A9D649A8C6B}"/>
              </a:ext>
            </a:extLst>
          </p:cNvPr>
          <p:cNvSpPr>
            <a:spLocks noGrp="1"/>
          </p:cNvSpPr>
          <p:nvPr/>
        </p:nvSpPr>
        <p:spPr>
          <a:xfrm>
            <a:off x="7334250" y="5105400"/>
            <a:ext cx="4171950" cy="381000"/>
          </a:xfrm>
          <a:prstGeom prst="rect">
            <a:avLst/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2FE509DB-74D8-4166-A64E-4446E4EC80C4}"/>
              </a:ext>
            </a:extLst>
          </p:cNvPr>
          <p:cNvSpPr>
            <a:spLocks noGrp="1"/>
          </p:cNvSpPr>
          <p:nvPr/>
        </p:nvSpPr>
        <p:spPr>
          <a:xfrm>
            <a:off x="7486650" y="510540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LR decay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F6A54CAD-815E-4902-B6BD-9366D05D4B57}"/>
              </a:ext>
            </a:extLst>
          </p:cNvPr>
          <p:cNvSpPr>
            <a:spLocks noGrp="1"/>
          </p:cNvSpPr>
          <p:nvPr/>
        </p:nvSpPr>
        <p:spPr>
          <a:xfrm>
            <a:off x="9010650" y="51054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×0.5 every 10 epochs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3D51D75C-02AF-434B-8953-C837E032A02B}"/>
              </a:ext>
            </a:extLst>
          </p:cNvPr>
          <p:cNvSpPr>
            <a:spLocks noGrp="1"/>
          </p:cNvSpPr>
          <p:nvPr/>
        </p:nvSpPr>
        <p:spPr>
          <a:xfrm>
            <a:off x="7486650" y="5543550"/>
            <a:ext cx="1466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Early stop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15FED8E1-AAE4-42A1-96E0-75DFBFEDD0AF}"/>
              </a:ext>
            </a:extLst>
          </p:cNvPr>
          <p:cNvSpPr>
            <a:spLocks noGrp="1"/>
          </p:cNvSpPr>
          <p:nvPr/>
        </p:nvSpPr>
        <p:spPr>
          <a:xfrm>
            <a:off x="9010650" y="55435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patience = 10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C0BB84E-350E-4B81-98C1-C687B6255995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486DED8B-5A3A-4F1B-8E72-76EEC70A02FF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586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15-title-accent">
            <a:extLst>
              <a:ext uri="{FF2B5EF4-FFF2-40B4-BE49-F238E27FC236}">
                <a16:creationId xmlns:a16="http://schemas.microsoft.com/office/drawing/2014/main" id="{F9A5C4D1-ABA3-4B2A-AB6A-BF7BEBC77D5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5-title">
            <a:extLst>
              <a:ext uri="{FF2B5EF4-FFF2-40B4-BE49-F238E27FC236}">
                <a16:creationId xmlns:a16="http://schemas.microsoft.com/office/drawing/2014/main" id="{2A765C88-20BE-41D8-BB91-F9ACAB3FC976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6914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Retraining</a:t>
            </a:r>
          </a:p>
        </p:txBody>
      </p:sp>
      <p:sp>
        <p:nvSpPr>
          <p:cNvPr id="3" name="slide-15-topic-background">
            <a:extLst>
              <a:ext uri="{FF2B5EF4-FFF2-40B4-BE49-F238E27FC236}">
                <a16:creationId xmlns:a16="http://schemas.microsoft.com/office/drawing/2014/main" id="{BB10C3D0-DAB5-4153-9B92-9603BA21391A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5-topic">
            <a:extLst>
              <a:ext uri="{FF2B5EF4-FFF2-40B4-BE49-F238E27FC236}">
                <a16:creationId xmlns:a16="http://schemas.microsoft.com/office/drawing/2014/main" id="{863D5EA5-C72B-4C4F-8F51-8BC3F35F4444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GLOBAL ANNEALING</a:t>
            </a:r>
          </a:p>
        </p:txBody>
      </p:sp>
      <p:sp>
        <p:nvSpPr>
          <p:cNvPr id="5" name="slide-15-header-rule">
            <a:extLst>
              <a:ext uri="{FF2B5EF4-FFF2-40B4-BE49-F238E27FC236}">
                <a16:creationId xmlns:a16="http://schemas.microsoft.com/office/drawing/2014/main" id="{394869EC-F3D7-431B-A6DB-BAA2CB40FC28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5-number">
            <a:extLst>
              <a:ext uri="{FF2B5EF4-FFF2-40B4-BE49-F238E27FC236}">
                <a16:creationId xmlns:a16="http://schemas.microsoft.com/office/drawing/2014/main" id="{40C86A21-46B9-4B08-B17F-5CDE88716124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BA06A2E9-2685-4574-B819-73E83052DD88}"/>
              </a:ext>
            </a:extLst>
          </p:cNvPr>
          <p:cNvSpPr>
            <a:spLocks noGrp="1"/>
          </p:cNvSpPr>
          <p:nvPr/>
        </p:nvSpPr>
        <p:spPr>
          <a:xfrm>
            <a:off x="3200400" y="2124075"/>
            <a:ext cx="22860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B43F20B9-C9B2-42E5-83F7-DAB84715E830}"/>
              </a:ext>
            </a:extLst>
          </p:cNvPr>
          <p:cNvSpPr>
            <a:spLocks noGrp="1"/>
          </p:cNvSpPr>
          <p:nvPr/>
        </p:nvSpPr>
        <p:spPr>
          <a:xfrm>
            <a:off x="5981700" y="2124075"/>
            <a:ext cx="22860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FD69BCE8-A13B-4367-8AB9-FA8940FE5891}"/>
              </a:ext>
            </a:extLst>
          </p:cNvPr>
          <p:cNvSpPr>
            <a:spLocks noGrp="1"/>
          </p:cNvSpPr>
          <p:nvPr/>
        </p:nvSpPr>
        <p:spPr>
          <a:xfrm>
            <a:off x="8763000" y="2124075"/>
            <a:ext cx="22860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C9A58BB4-63A9-4F5F-BB3F-E4249CCA9ABC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06A8E1E-ECD1-463B-A75E-33DD26C13F20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 = 1.92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267F9C6-2492-4D3E-AC8D-88C1D061FDBD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train 40 epochs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6CC7223-DAF3-4338-908E-866565ADFAB1}"/>
              </a:ext>
            </a:extLst>
          </p:cNvPr>
          <p:cNvSpPr>
            <a:spLocks noGrp="1"/>
          </p:cNvSpPr>
          <p:nvPr/>
        </p:nvSpPr>
        <p:spPr>
          <a:xfrm>
            <a:off x="34671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F7A7ACA-EC2F-4522-B2DC-6333DBE6AA45}"/>
              </a:ext>
            </a:extLst>
          </p:cNvPr>
          <p:cNvSpPr>
            <a:spLocks noGrp="1"/>
          </p:cNvSpPr>
          <p:nvPr/>
        </p:nvSpPr>
        <p:spPr>
          <a:xfrm>
            <a:off x="36385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Lower T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C766EE9-0AD8-47BE-BD5F-07F08AA241E4}"/>
              </a:ext>
            </a:extLst>
          </p:cNvPr>
          <p:cNvSpPr>
            <a:spLocks noGrp="1"/>
          </p:cNvSpPr>
          <p:nvPr/>
        </p:nvSpPr>
        <p:spPr>
          <a:xfrm>
            <a:off x="3638550" y="23050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global + local moves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213C0DC-0F8A-40FD-84B3-80D5D1D6BDC3}"/>
              </a:ext>
            </a:extLst>
          </p:cNvPr>
          <p:cNvSpPr>
            <a:spLocks noGrp="1"/>
          </p:cNvSpPr>
          <p:nvPr/>
        </p:nvSpPr>
        <p:spPr>
          <a:xfrm>
            <a:off x="62484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D7685D7-44E2-458C-95DD-1897527CD577}"/>
              </a:ext>
            </a:extLst>
          </p:cNvPr>
          <p:cNvSpPr>
            <a:spLocks noGrp="1"/>
          </p:cNvSpPr>
          <p:nvPr/>
        </p:nvSpPr>
        <p:spPr>
          <a:xfrm>
            <a:off x="64198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Retrain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3D63307-E1C1-48E2-9B18-8ABA359CB119}"/>
              </a:ext>
            </a:extLst>
          </p:cNvPr>
          <p:cNvSpPr>
            <a:spLocks noGrp="1"/>
          </p:cNvSpPr>
          <p:nvPr/>
        </p:nvSpPr>
        <p:spPr>
          <a:xfrm>
            <a:off x="6419850" y="23050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 epoch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FD4A41F6-61C1-4474-B0DE-1AC7E53FDD9A}"/>
              </a:ext>
            </a:extLst>
          </p:cNvPr>
          <p:cNvSpPr>
            <a:spLocks noGrp="1"/>
          </p:cNvSpPr>
          <p:nvPr/>
        </p:nvSpPr>
        <p:spPr>
          <a:xfrm>
            <a:off x="90297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A1AA733-3F23-46AC-B314-24C0076A7B3E}"/>
              </a:ext>
            </a:extLst>
          </p:cNvPr>
          <p:cNvSpPr>
            <a:spLocks noGrp="1"/>
          </p:cNvSpPr>
          <p:nvPr/>
        </p:nvSpPr>
        <p:spPr>
          <a:xfrm>
            <a:off x="92011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Lower T again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5FFC5C8-8A70-4CAF-B5E1-A22C90FEDF82}"/>
              </a:ext>
            </a:extLst>
          </p:cNvPr>
          <p:cNvSpPr>
            <a:spLocks noGrp="1"/>
          </p:cNvSpPr>
          <p:nvPr/>
        </p:nvSpPr>
        <p:spPr>
          <a:xfrm>
            <a:off x="9201150" y="23050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reuse weights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8ED4603D-3318-4129-8643-ABED14313864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6667500" cy="2781300"/>
          </a:xfrm>
          <a:prstGeom prst="roundRect">
            <a:avLst>
              <a:gd name="adj" fmla="val 274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7DD33C5-1C9C-4F37-8888-C50FA435AD13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666750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B418AE14-94F7-45C6-9BB8-09F7D8CE4A1D}"/>
              </a:ext>
            </a:extLst>
          </p:cNvPr>
          <p:cNvSpPr>
            <a:spLocks noGrp="1"/>
          </p:cNvSpPr>
          <p:nvPr/>
        </p:nvSpPr>
        <p:spPr>
          <a:xfrm>
            <a:off x="704850" y="3400425"/>
            <a:ext cx="636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RETRAIN_MADE · WARM-STARTED UPDATE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D75A5D80-65FC-49A6-BFB2-EAFF8F9DEAE4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63246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def retrain_made(model, dataset, epochs=1, batch_size=256):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data = dataset.detach()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optimizer = optim.Adam(model.parameters(), lr=1e-3)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criterion = nn.BCELoss(reduction="sum")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for _ in range(epochs):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for _ in range(len(data) // batch_size):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idx = torch.randint(len(data), (batch_size,))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batch = data[idx]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loss = criterion(model(batch), (batch + 1) / 2)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optimizer.zero_grad()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loss.backward()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optimizer.step()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model.apply(clipper)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475E0C86-6061-461B-9D70-F6F8D768F6F3}"/>
              </a:ext>
            </a:extLst>
          </p:cNvPr>
          <p:cNvSpPr>
            <a:spLocks noGrp="1"/>
          </p:cNvSpPr>
          <p:nvPr/>
        </p:nvSpPr>
        <p:spPr>
          <a:xfrm>
            <a:off x="7639050" y="3390900"/>
            <a:ext cx="3867150" cy="2343150"/>
          </a:xfrm>
          <a:prstGeom prst="roundRect">
            <a:avLst>
              <a:gd name="adj" fmla="val 3252"/>
            </a:avLst>
          </a:prstGeom>
          <a:solidFill>
            <a:srgbClr val="EEF4FF"/>
          </a:solidFill>
          <a:ln w="9525">
            <a:solidFill>
              <a:srgbClr val="B8CA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D420ECDB-C251-40D1-B87D-8926CC066572}"/>
              </a:ext>
            </a:extLst>
          </p:cNvPr>
          <p:cNvSpPr>
            <a:spLocks noGrp="1"/>
          </p:cNvSpPr>
          <p:nvPr/>
        </p:nvSpPr>
        <p:spPr>
          <a:xfrm>
            <a:off x="7905750" y="36385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Why no scheduler?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F1627C69-50E0-4148-8BC1-D744128ABB07}"/>
              </a:ext>
            </a:extLst>
          </p:cNvPr>
          <p:cNvSpPr>
            <a:spLocks noGrp="1"/>
          </p:cNvSpPr>
          <p:nvPr/>
        </p:nvSpPr>
        <p:spPr>
          <a:xfrm>
            <a:off x="7924800" y="4191000"/>
            <a:ext cx="32575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/>
          </a:bodyPr>
          <a:lstStyle/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Only one retraining epoch per temperature</a:t>
            </a:r>
          </a:p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The model starts from nearby-temperature weights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67AA2367-1B45-480B-AFD3-1F54CDE169B7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0113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15-title-accent">
            <a:extLst>
              <a:ext uri="{FF2B5EF4-FFF2-40B4-BE49-F238E27FC236}">
                <a16:creationId xmlns:a16="http://schemas.microsoft.com/office/drawing/2014/main" id="{F9A5C4D1-ABA3-4B2A-AB6A-BF7BEBC77D5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5-title">
            <a:extLst>
              <a:ext uri="{FF2B5EF4-FFF2-40B4-BE49-F238E27FC236}">
                <a16:creationId xmlns:a16="http://schemas.microsoft.com/office/drawing/2014/main" id="{2A765C88-20BE-41D8-BB91-F9ACAB3FC976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3281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generate_config</a:t>
            </a:r>
          </a:p>
        </p:txBody>
      </p:sp>
      <p:sp>
        <p:nvSpPr>
          <p:cNvPr id="3" name="slide-15-topic-background">
            <a:extLst>
              <a:ext uri="{FF2B5EF4-FFF2-40B4-BE49-F238E27FC236}">
                <a16:creationId xmlns:a16="http://schemas.microsoft.com/office/drawing/2014/main" id="{BB10C3D0-DAB5-4153-9B92-9603BA21391A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5-topic">
            <a:extLst>
              <a:ext uri="{FF2B5EF4-FFF2-40B4-BE49-F238E27FC236}">
                <a16:creationId xmlns:a16="http://schemas.microsoft.com/office/drawing/2014/main" id="{863D5EA5-C72B-4C4F-8F51-8BC3F35F4444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GLOBAL ANNEALING</a:t>
            </a:r>
          </a:p>
        </p:txBody>
      </p:sp>
      <p:sp>
        <p:nvSpPr>
          <p:cNvPr id="5" name="slide-15-header-rule">
            <a:extLst>
              <a:ext uri="{FF2B5EF4-FFF2-40B4-BE49-F238E27FC236}">
                <a16:creationId xmlns:a16="http://schemas.microsoft.com/office/drawing/2014/main" id="{394869EC-F3D7-431B-A6DB-BAA2CB40FC28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5-number">
            <a:extLst>
              <a:ext uri="{FF2B5EF4-FFF2-40B4-BE49-F238E27FC236}">
                <a16:creationId xmlns:a16="http://schemas.microsoft.com/office/drawing/2014/main" id="{40C86A21-46B9-4B08-B17F-5CDE88716124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BA06A2E9-2685-4574-B819-73E83052DD88}"/>
              </a:ext>
            </a:extLst>
          </p:cNvPr>
          <p:cNvSpPr>
            <a:spLocks noGrp="1"/>
          </p:cNvSpPr>
          <p:nvPr/>
        </p:nvSpPr>
        <p:spPr>
          <a:xfrm>
            <a:off x="3200400" y="2124075"/>
            <a:ext cx="22860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B43F20B9-C9B2-42E5-83F7-DAB84715E830}"/>
              </a:ext>
            </a:extLst>
          </p:cNvPr>
          <p:cNvSpPr>
            <a:spLocks noGrp="1"/>
          </p:cNvSpPr>
          <p:nvPr/>
        </p:nvSpPr>
        <p:spPr>
          <a:xfrm>
            <a:off x="5981700" y="2124075"/>
            <a:ext cx="22860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FD69BCE8-A13B-4367-8AB9-FA8940FE5891}"/>
              </a:ext>
            </a:extLst>
          </p:cNvPr>
          <p:cNvSpPr>
            <a:spLocks noGrp="1"/>
          </p:cNvSpPr>
          <p:nvPr/>
        </p:nvSpPr>
        <p:spPr>
          <a:xfrm>
            <a:off x="8763000" y="2124075"/>
            <a:ext cx="22860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C9A58BB4-63A9-4F5F-BB3F-E4249CCA9ABC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06A8E1E-ECD1-463B-A75E-33DD26C13F20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config = 0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6CC7223-DAF3-4338-908E-866565ADFAB1}"/>
              </a:ext>
            </a:extLst>
          </p:cNvPr>
          <p:cNvSpPr>
            <a:spLocks noGrp="1"/>
          </p:cNvSpPr>
          <p:nvPr/>
        </p:nvSpPr>
        <p:spPr>
          <a:xfrm>
            <a:off x="34671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F7A7ACA-EC2F-4522-B2DC-6333DBE6AA45}"/>
              </a:ext>
            </a:extLst>
          </p:cNvPr>
          <p:cNvSpPr>
            <a:spLocks noGrp="1"/>
          </p:cNvSpPr>
          <p:nvPr/>
        </p:nvSpPr>
        <p:spPr>
          <a:xfrm>
            <a:off x="36385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for n = 0…N−1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C766EE9-0AD8-47BE-BD5F-07F08AA241E4}"/>
              </a:ext>
            </a:extLst>
          </p:cNvPr>
          <p:cNvSpPr>
            <a:spLocks noGrp="1"/>
          </p:cNvSpPr>
          <p:nvPr/>
        </p:nvSpPr>
        <p:spPr>
          <a:xfrm>
            <a:off x="3638550" y="23050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pₙ = model.forward_n(...)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213C0DC-0F8A-40FD-84B3-80D5D1D6BDC3}"/>
              </a:ext>
            </a:extLst>
          </p:cNvPr>
          <p:cNvSpPr>
            <a:spLocks noGrp="1"/>
          </p:cNvSpPr>
          <p:nvPr/>
        </p:nvSpPr>
        <p:spPr>
          <a:xfrm>
            <a:off x="62484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D7685D7-44E2-458C-95DD-1897527CD577}"/>
              </a:ext>
            </a:extLst>
          </p:cNvPr>
          <p:cNvSpPr>
            <a:spLocks noGrp="1"/>
          </p:cNvSpPr>
          <p:nvPr/>
        </p:nvSpPr>
        <p:spPr>
          <a:xfrm>
            <a:off x="64198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Bernoulli(pₙ)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3D63307-E1C1-48E2-9B18-8ABA359CB119}"/>
              </a:ext>
            </a:extLst>
          </p:cNvPr>
          <p:cNvSpPr>
            <a:spLocks noGrp="1"/>
          </p:cNvSpPr>
          <p:nvPr/>
        </p:nvSpPr>
        <p:spPr>
          <a:xfrm>
            <a:off x="6419850" y="23050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0/1 → −1/+1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FD4A41F6-61C1-4474-B0DE-1AC7E53FDD9A}"/>
              </a:ext>
            </a:extLst>
          </p:cNvPr>
          <p:cNvSpPr>
            <a:spLocks noGrp="1"/>
          </p:cNvSpPr>
          <p:nvPr/>
        </p:nvSpPr>
        <p:spPr>
          <a:xfrm>
            <a:off x="9029700" y="156210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A1AA733-3F23-46AC-B314-24C0076A7B3E}"/>
              </a:ext>
            </a:extLst>
          </p:cNvPr>
          <p:cNvSpPr>
            <a:spLocks noGrp="1"/>
          </p:cNvSpPr>
          <p:nvPr/>
        </p:nvSpPr>
        <p:spPr>
          <a:xfrm>
            <a:off x="9201150" y="17907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return config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8ED4603D-3318-4129-8643-ABED14313864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6667500" cy="2781300"/>
          </a:xfrm>
          <a:prstGeom prst="roundRect">
            <a:avLst>
              <a:gd name="adj" fmla="val 274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7DD33C5-1C9C-4F37-8888-C50FA435AD13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666750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B418AE14-94F7-45C6-9BB8-09F7D8CE4A1D}"/>
              </a:ext>
            </a:extLst>
          </p:cNvPr>
          <p:cNvSpPr>
            <a:spLocks noGrp="1"/>
          </p:cNvSpPr>
          <p:nvPr/>
        </p:nvSpPr>
        <p:spPr>
          <a:xfrm>
            <a:off x="704850" y="3400425"/>
            <a:ext cx="636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GENERATE_CONFIG · ANCESTRAL SAMPLING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D75A5D80-65FC-49A6-BFB2-EAFF8F9DEAE4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63246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generate_config(model, N_spins, N_config, device):</a:t>
            </a: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model.eval()</a:t>
            </a: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with torch.no_grad():</a:t>
            </a: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config = torch.zeros(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(N_config, N_spins), device=device)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endParaRPr sz="10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for n in range(N_spins):</a:t>
            </a: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p_n = model.forward_n(config, n)</a:t>
            </a: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config[:, n] = (</a:t>
            </a: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torch.bernoulli(p_n) * 2 - 1)</a:t>
            </a:r>
          </a:p>
          <a:p>
            <a:pPr algn="l">
              <a:lnSpc>
                <a:spcPct val="90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endParaRPr sz="1050" b="0" i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0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config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809E6301-4FC1-41FF-8300-B1CA432C0B6B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67AA2367-1B45-480B-AFD3-1F54CDE169B7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3168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16-title-accent">
            <a:extLst>
              <a:ext uri="{FF2B5EF4-FFF2-40B4-BE49-F238E27FC236}">
                <a16:creationId xmlns:a16="http://schemas.microsoft.com/office/drawing/2014/main" id="{5161B9A7-2A01-4CFB-A120-08565F50ED7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6-title">
            <a:extLst>
              <a:ext uri="{FF2B5EF4-FFF2-40B4-BE49-F238E27FC236}">
                <a16:creationId xmlns:a16="http://schemas.microsoft.com/office/drawing/2014/main" id="{E852CC83-83CD-45FA-A2B3-0EBB32CBE46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8922"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MLMC_fast</a:t>
            </a:r>
          </a:p>
        </p:txBody>
      </p:sp>
      <p:sp>
        <p:nvSpPr>
          <p:cNvPr id="3" name="slide-16-topic-background">
            <a:extLst>
              <a:ext uri="{FF2B5EF4-FFF2-40B4-BE49-F238E27FC236}">
                <a16:creationId xmlns:a16="http://schemas.microsoft.com/office/drawing/2014/main" id="{B300C221-B34E-478E-9733-4C1E326FFF31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6-topic">
            <a:extLst>
              <a:ext uri="{FF2B5EF4-FFF2-40B4-BE49-F238E27FC236}">
                <a16:creationId xmlns:a16="http://schemas.microsoft.com/office/drawing/2014/main" id="{C5B943F0-68A1-422A-8DB3-E6D5BE605C82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6FEA"/>
                </a:solidFill>
                <a:latin typeface="Arial"/>
                <a:ea typeface="Arial"/>
                <a:cs typeface="Arial"/>
              </a:rPr>
              <a:t>GLOBAL ANNEALING</a:t>
            </a:r>
          </a:p>
        </p:txBody>
      </p:sp>
      <p:sp>
        <p:nvSpPr>
          <p:cNvPr id="5" name="slide-16-header-rule">
            <a:extLst>
              <a:ext uri="{FF2B5EF4-FFF2-40B4-BE49-F238E27FC236}">
                <a16:creationId xmlns:a16="http://schemas.microsoft.com/office/drawing/2014/main" id="{241C2ECC-1F18-41F4-8A8E-8D639C88171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6-number">
            <a:extLst>
              <a:ext uri="{FF2B5EF4-FFF2-40B4-BE49-F238E27FC236}">
                <a16:creationId xmlns:a16="http://schemas.microsoft.com/office/drawing/2014/main" id="{9ED92425-FBE4-44FC-9088-0BF8BA758060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45CB655-BEAA-4553-97CF-8C105260AF3C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10706100" cy="876300"/>
          </a:xfrm>
          <a:prstGeom prst="roundRect">
            <a:avLst>
              <a:gd name="adj" fmla="val 8696"/>
            </a:avLst>
          </a:prstGeom>
          <a:solidFill>
            <a:srgbClr val="DCE7FF"/>
          </a:solidFill>
          <a:ln w="9525">
            <a:solidFill>
              <a:srgbClr val="BDD0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E2A259D-1246-4325-87D8-64CA77FA5DC3}"/>
              </a:ext>
            </a:extLst>
          </p:cNvPr>
          <p:cNvSpPr>
            <a:spLocks noGrp="1"/>
          </p:cNvSpPr>
          <p:nvPr/>
        </p:nvSpPr>
        <p:spPr>
          <a:xfrm>
            <a:off x="933450" y="1485900"/>
            <a:ext cx="10325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17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 = −β[H(s′)−H(s)] + log q_w(s) − log q_w(s′)    ·    accept if log u &lt; min(0, A)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8FB3A5C-0746-4613-8ED7-81BE1C95E875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6819900" cy="3390900"/>
          </a:xfrm>
          <a:prstGeom prst="roundRect">
            <a:avLst>
              <a:gd name="adj" fmla="val 2247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4A2AFD2-EE09-4F4C-9958-5D0F431DE2B6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681990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15E621D-FE25-42C9-B788-2A310F3B2A0D}"/>
              </a:ext>
            </a:extLst>
          </p:cNvPr>
          <p:cNvSpPr>
            <a:spLocks noGrp="1"/>
          </p:cNvSpPr>
          <p:nvPr/>
        </p:nvSpPr>
        <p:spPr>
          <a:xfrm>
            <a:off x="704850" y="2771775"/>
            <a:ext cx="651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MLMC_FAST · VECTORIZED LOG-HASTINGS TEST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34C05B1-8199-481A-AE83-8100353D5217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647700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proposal = generate_config(model, N, len(data), device)</a:t>
            </a: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 = compute_energy(current, J)</a:t>
            </a: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E_new = compute_energy(proposal, J)</a:t>
            </a:r>
          </a:p>
          <a:p>
            <a:endParaRPr sz="1050" b="0" i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bce = nn.BCELoss(reduction="none")</a:t>
            </a: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BCE = bce(model(current), target(current)).sum(1)</a:t>
            </a:r>
          </a:p>
          <a:p>
            <a:pPr algn="l">
              <a:buNone/>
              <a:defRPr sz="105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BCE_new = bce(model(proposal), target(proposal)).sum(1)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endParaRPr sz="10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log_ratio = -beta * (E_new - E) + BCE_new - BCE</a:t>
            </a: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accept = torch.log(torch.rand(len(data), device=device)) &lt; log_ratio</a:t>
            </a: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current = torch.where(accept[:, None], proposal, current)</a:t>
            </a:r>
          </a:p>
          <a:p>
            <a:pPr algn="l">
              <a:lnSpc>
                <a:spcPct val="94000"/>
              </a:lnSpc>
              <a:buNone/>
              <a:def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acc_rates.append(accept.float().mean())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999FB229-ADA8-48CE-A3BB-8DB28F507B32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3733800" cy="3390900"/>
          </a:xfrm>
          <a:prstGeom prst="roundRect">
            <a:avLst>
              <a:gd name="adj" fmla="val 2247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82E8F46-E615-4F5A-BB0A-2AC0D0F35A5B}"/>
              </a:ext>
            </a:extLst>
          </p:cNvPr>
          <p:cNvSpPr>
            <a:spLocks noGrp="1"/>
          </p:cNvSpPr>
          <p:nvPr/>
        </p:nvSpPr>
        <p:spPr>
          <a:xfrm>
            <a:off x="8058150" y="2990850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BCE appears here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9D788DB-B71B-41E7-BC0F-9C4B1D7CEE7C}"/>
              </a:ext>
            </a:extLst>
          </p:cNvPr>
          <p:cNvSpPr>
            <a:spLocks noGrp="1"/>
          </p:cNvSpPr>
          <p:nvPr/>
        </p:nvSpPr>
        <p:spPr>
          <a:xfrm>
            <a:off x="8077200" y="3524250"/>
            <a:ext cx="3143250" cy="2114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BCE(s) = −log q_w(s)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1275" b="0" i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A</a:t>
            </a: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= −βΔE + BCE(s′) − BCE(s)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1275" b="0" i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BCE is only a convenient evaluation of the proposal log-density required by Metropolis–Hastings. No training occurs inside MLMC_fast.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D74843F-199A-4E3C-892E-11C186BDA675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B3D6C8F-8D35-4D17-B08F-266C02315F62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3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-17-title-accent">
            <a:extLst>
              <a:ext uri="{FF2B5EF4-FFF2-40B4-BE49-F238E27FC236}">
                <a16:creationId xmlns:a16="http://schemas.microsoft.com/office/drawing/2014/main" id="{238977CF-9E31-44D8-96CB-8668C3C354D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7-title">
            <a:extLst>
              <a:ext uri="{FF2B5EF4-FFF2-40B4-BE49-F238E27FC236}">
                <a16:creationId xmlns:a16="http://schemas.microsoft.com/office/drawing/2014/main" id="{6F1C5308-A938-4EA4-95F6-C9A4AB01779F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Global Annealing: implementation</a:t>
            </a:r>
          </a:p>
        </p:txBody>
      </p:sp>
      <p:sp>
        <p:nvSpPr>
          <p:cNvPr id="3" name="slide-17-topic-background">
            <a:extLst>
              <a:ext uri="{FF2B5EF4-FFF2-40B4-BE49-F238E27FC236}">
                <a16:creationId xmlns:a16="http://schemas.microsoft.com/office/drawing/2014/main" id="{FD6A3830-8884-4155-AB05-2A317D621A93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7-topic">
            <a:extLst>
              <a:ext uri="{FF2B5EF4-FFF2-40B4-BE49-F238E27FC236}">
                <a16:creationId xmlns:a16="http://schemas.microsoft.com/office/drawing/2014/main" id="{FDF5F92F-79EF-46DE-9F6B-618F04BF3795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GLOBAL ANNEALING</a:t>
            </a:r>
          </a:p>
        </p:txBody>
      </p:sp>
      <p:sp>
        <p:nvSpPr>
          <p:cNvPr id="5" name="slide-17-header-rule">
            <a:extLst>
              <a:ext uri="{FF2B5EF4-FFF2-40B4-BE49-F238E27FC236}">
                <a16:creationId xmlns:a16="http://schemas.microsoft.com/office/drawing/2014/main" id="{57ECB43A-7948-407B-A41C-156A0BBCC008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7-number">
            <a:extLst>
              <a:ext uri="{FF2B5EF4-FFF2-40B4-BE49-F238E27FC236}">
                <a16:creationId xmlns:a16="http://schemas.microsoft.com/office/drawing/2014/main" id="{A10E01BD-D0EF-49DB-8D66-046E72FFE1A6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70689D0-5A1D-4919-AE84-DD5950E49DFD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239000" cy="4762500"/>
          </a:xfrm>
          <a:prstGeom prst="roundRect">
            <a:avLst>
              <a:gd name="adj" fmla="val 160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234C442-AED2-41F3-AAD4-33E9738A2F38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23900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D8920F5-9370-42E6-AAD8-98E5868B3862}"/>
              </a:ext>
            </a:extLst>
          </p:cNvPr>
          <p:cNvSpPr>
            <a:spLocks noGrp="1"/>
          </p:cNvSpPr>
          <p:nvPr/>
        </p:nvSpPr>
        <p:spPr>
          <a:xfrm>
            <a:off x="647700" y="1476375"/>
            <a:ext cx="6934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GLOBAL_ANNEALING · UPDATE BLOCK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8CB5A01-7801-43D8-AF76-DE11DD1350DB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6896100" cy="426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for currT in temperatures[1:]: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beta = 1 / currT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for _ in range(MLMC_steps):          # 5 global moves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population, _ = MLMC_fast(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model, population, beta, N, J, num_steps=1)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for _ in range(swap_step):       # 15 local sweeps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population = montecarlo_step(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    population, J, currT, even_indices, odd_indices)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model = retrain_made(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model, population, epochs=1, batch_size=256)</a:t>
            </a:r>
          </a:p>
          <a:p>
            <a:pPr algn="l">
              <a:lnSpc>
                <a:spcPct val="94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observ.update(population, T=currT)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F764324-D503-41A6-963F-64FD71A62BD3}"/>
              </a:ext>
            </a:extLst>
          </p:cNvPr>
          <p:cNvSpPr>
            <a:spLocks noGrp="1"/>
          </p:cNvSpPr>
          <p:nvPr/>
        </p:nvSpPr>
        <p:spPr>
          <a:xfrm>
            <a:off x="8153400" y="154305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Per temperature</a:t>
            </a: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C25E6308-8DBC-4BCE-8295-0B67FB64BCC5}"/>
              </a:ext>
            </a:extLst>
          </p:cNvPr>
          <p:cNvSpPr>
            <a:spLocks noGrp="1"/>
          </p:cNvSpPr>
          <p:nvPr/>
        </p:nvSpPr>
        <p:spPr>
          <a:xfrm>
            <a:off x="9010650" y="2505075"/>
            <a:ext cx="17145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6723B0E4-16B0-497E-BF69-7AE54CAC9687}"/>
              </a:ext>
            </a:extLst>
          </p:cNvPr>
          <p:cNvSpPr>
            <a:spLocks noGrp="1"/>
          </p:cNvSpPr>
          <p:nvPr/>
        </p:nvSpPr>
        <p:spPr>
          <a:xfrm>
            <a:off x="10191750" y="2505075"/>
            <a:ext cx="17145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C60FE1D2-3D80-4A0D-9D9F-0E160C3E6EDB}"/>
              </a:ext>
            </a:extLst>
          </p:cNvPr>
          <p:cNvSpPr>
            <a:spLocks noGrp="1"/>
          </p:cNvSpPr>
          <p:nvPr/>
        </p:nvSpPr>
        <p:spPr>
          <a:xfrm>
            <a:off x="8020050" y="2076450"/>
            <a:ext cx="971550" cy="1085850"/>
          </a:xfrm>
          <a:prstGeom prst="roundRect">
            <a:avLst>
              <a:gd name="adj" fmla="val 7843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6B181FF-8767-4BDE-B553-40D98CE1A289}"/>
              </a:ext>
            </a:extLst>
          </p:cNvPr>
          <p:cNvSpPr>
            <a:spLocks noGrp="1"/>
          </p:cNvSpPr>
          <p:nvPr/>
        </p:nvSpPr>
        <p:spPr>
          <a:xfrm>
            <a:off x="8191500" y="2305050"/>
            <a:ext cx="628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MLMC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30722A3-35CE-4775-B5D0-0BC8B1DB7693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×5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72F766E7-CCB5-4007-8A39-A05DEB3603FD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971550" cy="1085850"/>
          </a:xfrm>
          <a:prstGeom prst="roundRect">
            <a:avLst>
              <a:gd name="adj" fmla="val 7843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FD8BAC43-DD3C-4B18-85EA-A243EF105B8C}"/>
              </a:ext>
            </a:extLst>
          </p:cNvPr>
          <p:cNvSpPr>
            <a:spLocks noGrp="1"/>
          </p:cNvSpPr>
          <p:nvPr/>
        </p:nvSpPr>
        <p:spPr>
          <a:xfrm>
            <a:off x="9372600" y="2305050"/>
            <a:ext cx="628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DFDB53C-E4FB-435E-B134-5D2AFE1D121E}"/>
              </a:ext>
            </a:extLst>
          </p:cNvPr>
          <p:cNvSpPr>
            <a:spLocks noGrp="1"/>
          </p:cNvSpPr>
          <p:nvPr/>
        </p:nvSpPr>
        <p:spPr>
          <a:xfrm>
            <a:off x="9372600" y="28194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×15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02E3E073-7154-4227-AAC0-7A52A13D86A8}"/>
              </a:ext>
            </a:extLst>
          </p:cNvPr>
          <p:cNvSpPr>
            <a:spLocks noGrp="1"/>
          </p:cNvSpPr>
          <p:nvPr/>
        </p:nvSpPr>
        <p:spPr>
          <a:xfrm>
            <a:off x="10382250" y="2076450"/>
            <a:ext cx="971550" cy="1085850"/>
          </a:xfrm>
          <a:prstGeom prst="roundRect">
            <a:avLst>
              <a:gd name="adj" fmla="val 7843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FCF95FB2-5812-428E-B10E-758CCCEC2DE1}"/>
              </a:ext>
            </a:extLst>
          </p:cNvPr>
          <p:cNvSpPr>
            <a:spLocks noGrp="1"/>
          </p:cNvSpPr>
          <p:nvPr/>
        </p:nvSpPr>
        <p:spPr>
          <a:xfrm>
            <a:off x="10553700" y="2305050"/>
            <a:ext cx="628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Retrain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1B8B89F-CD47-4B78-8A21-F6DB07449CE7}"/>
              </a:ext>
            </a:extLst>
          </p:cNvPr>
          <p:cNvSpPr>
            <a:spLocks noGrp="1"/>
          </p:cNvSpPr>
          <p:nvPr/>
        </p:nvSpPr>
        <p:spPr>
          <a:xfrm>
            <a:off x="10553700" y="28194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63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×1 epoch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EAC8822A-B21B-46B6-8460-D2B639B47A28}"/>
              </a:ext>
            </a:extLst>
          </p:cNvPr>
          <p:cNvSpPr>
            <a:spLocks noGrp="1"/>
          </p:cNvSpPr>
          <p:nvPr/>
        </p:nvSpPr>
        <p:spPr>
          <a:xfrm>
            <a:off x="8024966" y="3990976"/>
            <a:ext cx="47625" cy="7810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ED6F3D40-229C-4C7F-8764-E6A449CE1A0C}"/>
              </a:ext>
            </a:extLst>
          </p:cNvPr>
          <p:cNvSpPr>
            <a:spLocks noGrp="1"/>
          </p:cNvSpPr>
          <p:nvPr/>
        </p:nvSpPr>
        <p:spPr>
          <a:xfrm>
            <a:off x="8215466" y="3990976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Full cost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2672AFF7-55C8-44BF-AEA1-B3B34D5BCDEA}"/>
              </a:ext>
            </a:extLst>
          </p:cNvPr>
          <p:cNvSpPr>
            <a:spLocks noGrp="1"/>
          </p:cNvSpPr>
          <p:nvPr/>
        </p:nvSpPr>
        <p:spPr>
          <a:xfrm>
            <a:off x="8215466" y="4314826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Training and retraining time is included in every runtime comparison.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2618A054-8130-4E60-A8F4-D159A6C5CFEE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C7B31599-F8C6-4DFA-8081-586806DB33BE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1024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18-title-accent">
            <a:extLst>
              <a:ext uri="{FF2B5EF4-FFF2-40B4-BE49-F238E27FC236}">
                <a16:creationId xmlns:a16="http://schemas.microsoft.com/office/drawing/2014/main" id="{51867996-8C27-4764-9B00-98A87936A21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8-title">
            <a:extLst>
              <a:ext uri="{FF2B5EF4-FFF2-40B4-BE49-F238E27FC236}">
                <a16:creationId xmlns:a16="http://schemas.microsoft.com/office/drawing/2014/main" id="{4AE17BEC-CA4C-4CA7-9E94-C108B003FE2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ΔE / N vs runtime</a:t>
            </a:r>
          </a:p>
        </p:txBody>
      </p:sp>
      <p:sp>
        <p:nvSpPr>
          <p:cNvPr id="3" name="slide-18-topic-background">
            <a:extLst>
              <a:ext uri="{FF2B5EF4-FFF2-40B4-BE49-F238E27FC236}">
                <a16:creationId xmlns:a16="http://schemas.microsoft.com/office/drawing/2014/main" id="{52D1EECC-C748-4B29-B2BF-9352B0E5F693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8-topic">
            <a:extLst>
              <a:ext uri="{FF2B5EF4-FFF2-40B4-BE49-F238E27FC236}">
                <a16:creationId xmlns:a16="http://schemas.microsoft.com/office/drawing/2014/main" id="{0EB504CD-CCED-4709-844D-E1CC1CF4C80F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OPTIMIZATION RESULTS</a:t>
            </a:r>
          </a:p>
        </p:txBody>
      </p:sp>
      <p:sp>
        <p:nvSpPr>
          <p:cNvPr id="5" name="slide-18-header-rule">
            <a:extLst>
              <a:ext uri="{FF2B5EF4-FFF2-40B4-BE49-F238E27FC236}">
                <a16:creationId xmlns:a16="http://schemas.microsoft.com/office/drawing/2014/main" id="{05E6E15B-856D-4ACA-849C-9CDB05C8B1C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8-number">
            <a:extLst>
              <a:ext uri="{FF2B5EF4-FFF2-40B4-BE49-F238E27FC236}">
                <a16:creationId xmlns:a16="http://schemas.microsoft.com/office/drawing/2014/main" id="{C8E63686-5762-4C82-BFC8-FDBA50BA3ADA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8F9EF1F-EA92-4427-BCA7-7D1629D7A3C9}"/>
              </a:ext>
            </a:extLst>
          </p:cNvPr>
          <p:cNvSpPr>
            <a:spLocks noGrp="1"/>
          </p:cNvSpPr>
          <p:nvPr/>
        </p:nvSpPr>
        <p:spPr>
          <a:xfrm>
            <a:off x="8153400" y="14859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Three modes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EB14168-84E4-441C-B66F-4ED7F2AB0D7D}"/>
              </a:ext>
            </a:extLst>
          </p:cNvPr>
          <p:cNvSpPr>
            <a:spLocks noGrp="1"/>
          </p:cNvSpPr>
          <p:nvPr/>
        </p:nvSpPr>
        <p:spPr>
          <a:xfrm>
            <a:off x="8362950" y="2248053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Best-so-far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8E1B458-1DA1-42AA-BAD9-475EE42A1DC3}"/>
              </a:ext>
            </a:extLst>
          </p:cNvPr>
          <p:cNvSpPr>
            <a:spLocks noGrp="1"/>
          </p:cNvSpPr>
          <p:nvPr/>
        </p:nvSpPr>
        <p:spPr>
          <a:xfrm>
            <a:off x="8343900" y="3746859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Jump-limited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F496D9A-915B-4EAC-8964-DA436CC6DEDA}"/>
              </a:ext>
            </a:extLst>
          </p:cNvPr>
          <p:cNvSpPr>
            <a:spLocks noGrp="1"/>
          </p:cNvSpPr>
          <p:nvPr/>
        </p:nvSpPr>
        <p:spPr>
          <a:xfrm>
            <a:off x="8172450" y="5038725"/>
            <a:ext cx="47625" cy="8001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C604367-B85A-4FFC-8F8C-CC5AC76B77EB}"/>
              </a:ext>
            </a:extLst>
          </p:cNvPr>
          <p:cNvSpPr>
            <a:spLocks noGrp="1"/>
          </p:cNvSpPr>
          <p:nvPr/>
        </p:nvSpPr>
        <p:spPr>
          <a:xfrm>
            <a:off x="8362950" y="5258876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1DA3687-3552-4903-8CA9-D8895A1C532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B5EEA5E0-D6BC-4751-B3AF-59AC5F741841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319282B-1FC5-C173-395F-208C2B06D110}"/>
              </a:ext>
            </a:extLst>
          </p:cNvPr>
          <p:cNvSpPr>
            <a:spLocks noGrp="1"/>
          </p:cNvSpPr>
          <p:nvPr/>
        </p:nvSpPr>
        <p:spPr>
          <a:xfrm>
            <a:off x="8188427" y="3502896"/>
            <a:ext cx="47625" cy="8001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6ADF870-EB3B-5D64-C859-5B97F9DCAE71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47625" cy="8001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Immagin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6" y="4554250"/>
            <a:ext cx="6642199" cy="1793394"/>
          </a:xfrm>
          <a:prstGeom prst="rect">
            <a:avLst/>
          </a:prstGeom>
        </p:spPr>
      </p:pic>
      <p:pic>
        <p:nvPicPr>
          <p:cNvPr id="48" name="Immagin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6" y="3006249"/>
            <a:ext cx="6642199" cy="1793394"/>
          </a:xfrm>
          <a:prstGeom prst="rect">
            <a:avLst/>
          </a:prstGeom>
        </p:spPr>
      </p:pic>
      <p:pic>
        <p:nvPicPr>
          <p:cNvPr id="49" name="Immagin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36" y="1685253"/>
            <a:ext cx="6642199" cy="150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84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19-title-accent">
            <a:extLst>
              <a:ext uri="{FF2B5EF4-FFF2-40B4-BE49-F238E27FC236}">
                <a16:creationId xmlns:a16="http://schemas.microsoft.com/office/drawing/2014/main" id="{FB36F64A-F677-45CF-9DCA-D126216AEF0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19-title">
            <a:extLst>
              <a:ext uri="{FF2B5EF4-FFF2-40B4-BE49-F238E27FC236}">
                <a16:creationId xmlns:a16="http://schemas.microsoft.com/office/drawing/2014/main" id="{14660D9E-A9B9-4F90-AD2B-9F6F9BBDBCD5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4414"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sampler holds temperature fixed after annealing</a:t>
            </a:r>
          </a:p>
        </p:txBody>
      </p:sp>
      <p:sp>
        <p:nvSpPr>
          <p:cNvPr id="3" name="slide-19-topic-background">
            <a:extLst>
              <a:ext uri="{FF2B5EF4-FFF2-40B4-BE49-F238E27FC236}">
                <a16:creationId xmlns:a16="http://schemas.microsoft.com/office/drawing/2014/main" id="{95BA5177-2F5F-419A-BBA9-335A596988AF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19-topic">
            <a:extLst>
              <a:ext uri="{FF2B5EF4-FFF2-40B4-BE49-F238E27FC236}">
                <a16:creationId xmlns:a16="http://schemas.microsoft.com/office/drawing/2014/main" id="{F41E221F-612E-4B1F-924E-B1AC81988963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FIXED-T SAMPLING</a:t>
            </a:r>
          </a:p>
        </p:txBody>
      </p:sp>
      <p:sp>
        <p:nvSpPr>
          <p:cNvPr id="5" name="slide-19-header-rule">
            <a:extLst>
              <a:ext uri="{FF2B5EF4-FFF2-40B4-BE49-F238E27FC236}">
                <a16:creationId xmlns:a16="http://schemas.microsoft.com/office/drawing/2014/main" id="{FAC1423A-10A8-4C69-B898-8747D187B2D5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19-number">
            <a:extLst>
              <a:ext uri="{FF2B5EF4-FFF2-40B4-BE49-F238E27FC236}">
                <a16:creationId xmlns:a16="http://schemas.microsoft.com/office/drawing/2014/main" id="{52032DAB-4FB3-4FA5-BA05-970C30C1DABA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0FB75F0-BF6D-4A18-8758-08EBEDC5014F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Temperature protocol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ED22FA7-8D3F-49C1-8161-A89051830144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1619250" cy="47625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B649BE2D-C26D-4143-86F3-A025C5EFAB47}"/>
              </a:ext>
            </a:extLst>
          </p:cNvPr>
          <p:cNvSpPr>
            <a:spLocks noGrp="1"/>
          </p:cNvSpPr>
          <p:nvPr/>
        </p:nvSpPr>
        <p:spPr>
          <a:xfrm>
            <a:off x="2524125" y="2457450"/>
            <a:ext cx="266700" cy="1104900"/>
          </a:xfrm>
          <a:prstGeom prst="down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7794C64-C157-4A82-B35E-6379DE34ED42}"/>
              </a:ext>
            </a:extLst>
          </p:cNvPr>
          <p:cNvSpPr>
            <a:spLocks noGrp="1"/>
          </p:cNvSpPr>
          <p:nvPr/>
        </p:nvSpPr>
        <p:spPr>
          <a:xfrm>
            <a:off x="2762250" y="3524250"/>
            <a:ext cx="3562350" cy="47625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DB09513-26B4-4413-A007-79DD45725106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thermalize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928B8B8-BF17-4DE0-9FA0-9D1C33C022D8}"/>
              </a:ext>
            </a:extLst>
          </p:cNvPr>
          <p:cNvSpPr>
            <a:spLocks noGrp="1"/>
          </p:cNvSpPr>
          <p:nvPr/>
        </p:nvSpPr>
        <p:spPr>
          <a:xfrm>
            <a:off x="1619250" y="300990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anneal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A82B003-0718-4798-9ECE-30338662FEFF}"/>
              </a:ext>
            </a:extLst>
          </p:cNvPr>
          <p:cNvSpPr>
            <a:spLocks noGrp="1"/>
          </p:cNvSpPr>
          <p:nvPr/>
        </p:nvSpPr>
        <p:spPr>
          <a:xfrm>
            <a:off x="3314700" y="3752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hold T_sample = 0.77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D294668A-6189-4ADD-BFBA-10E5E9B16110}"/>
              </a:ext>
            </a:extLst>
          </p:cNvPr>
          <p:cNvSpPr>
            <a:spLocks noGrp="1"/>
          </p:cNvSpPr>
          <p:nvPr/>
        </p:nvSpPr>
        <p:spPr>
          <a:xfrm>
            <a:off x="3086100" y="3467100"/>
            <a:ext cx="114300" cy="11430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67E76606-410E-437F-9B7F-67CADA3158F5}"/>
              </a:ext>
            </a:extLst>
          </p:cNvPr>
          <p:cNvSpPr>
            <a:spLocks noGrp="1"/>
          </p:cNvSpPr>
          <p:nvPr/>
        </p:nvSpPr>
        <p:spPr>
          <a:xfrm>
            <a:off x="3733800" y="3467100"/>
            <a:ext cx="114300" cy="11430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76AD6CB2-74E0-4734-BFCD-5AF3E3E370BE}"/>
              </a:ext>
            </a:extLst>
          </p:cNvPr>
          <p:cNvSpPr>
            <a:spLocks noGrp="1"/>
          </p:cNvSpPr>
          <p:nvPr/>
        </p:nvSpPr>
        <p:spPr>
          <a:xfrm>
            <a:off x="4381500" y="3467100"/>
            <a:ext cx="114300" cy="11430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034063BA-08B8-4CEC-B392-9060FBBAAE1E}"/>
              </a:ext>
            </a:extLst>
          </p:cNvPr>
          <p:cNvSpPr>
            <a:spLocks noGrp="1"/>
          </p:cNvSpPr>
          <p:nvPr/>
        </p:nvSpPr>
        <p:spPr>
          <a:xfrm>
            <a:off x="5029200" y="3467100"/>
            <a:ext cx="114300" cy="11430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9EE37BCA-5908-4477-A715-50539AA34486}"/>
              </a:ext>
            </a:extLst>
          </p:cNvPr>
          <p:cNvSpPr>
            <a:spLocks noGrp="1"/>
          </p:cNvSpPr>
          <p:nvPr/>
        </p:nvSpPr>
        <p:spPr>
          <a:xfrm>
            <a:off x="5676900" y="3467100"/>
            <a:ext cx="114300" cy="114300"/>
          </a:xfrm>
          <a:prstGeom prst="ellipse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BD971944-D4C0-4623-9B2F-8B975FDCC966}"/>
              </a:ext>
            </a:extLst>
          </p:cNvPr>
          <p:cNvSpPr>
            <a:spLocks noGrp="1"/>
          </p:cNvSpPr>
          <p:nvPr/>
        </p:nvSpPr>
        <p:spPr>
          <a:xfrm>
            <a:off x="6781800" y="1485900"/>
            <a:ext cx="9525" cy="4286250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0C0160E-D43A-4296-BF54-0AC45F9E1CD2}"/>
              </a:ext>
            </a:extLst>
          </p:cNvPr>
          <p:cNvSpPr>
            <a:spLocks noGrp="1"/>
          </p:cNvSpPr>
          <p:nvPr/>
        </p:nvSpPr>
        <p:spPr>
          <a:xfrm>
            <a:off x="7239000" y="16002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006EFF65-1BC3-48C6-B883-008CBC3B1505}"/>
              </a:ext>
            </a:extLst>
          </p:cNvPr>
          <p:cNvSpPr>
            <a:spLocks noGrp="1"/>
          </p:cNvSpPr>
          <p:nvPr/>
        </p:nvSpPr>
        <p:spPr>
          <a:xfrm>
            <a:off x="9544050" y="16002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Sampler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773E26D2-13DD-4867-8875-88FB49C82911}"/>
              </a:ext>
            </a:extLst>
          </p:cNvPr>
          <p:cNvSpPr>
            <a:spLocks noGrp="1"/>
          </p:cNvSpPr>
          <p:nvPr/>
        </p:nvSpPr>
        <p:spPr>
          <a:xfrm>
            <a:off x="7239000" y="23622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s* ≃ arg minₛ H(s)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DB9F2FE2-6A65-446C-AE0C-BD0A80203458}"/>
              </a:ext>
            </a:extLst>
          </p:cNvPr>
          <p:cNvSpPr>
            <a:spLocks noGrp="1"/>
          </p:cNvSpPr>
          <p:nvPr/>
        </p:nvSpPr>
        <p:spPr>
          <a:xfrm>
            <a:off x="9544050" y="23622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equilibrium ensemble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4D358834-7E30-4E84-A68D-77137E46E709}"/>
              </a:ext>
            </a:extLst>
          </p:cNvPr>
          <p:cNvSpPr>
            <a:spLocks noGrp="1"/>
          </p:cNvSpPr>
          <p:nvPr/>
        </p:nvSpPr>
        <p:spPr>
          <a:xfrm>
            <a:off x="9258300" y="2038350"/>
            <a:ext cx="9525" cy="1504950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F9D3092A-ACE3-452A-B9F5-8989067241CC}"/>
              </a:ext>
            </a:extLst>
          </p:cNvPr>
          <p:cNvSpPr>
            <a:spLocks noGrp="1"/>
          </p:cNvSpPr>
          <p:nvPr/>
        </p:nvSpPr>
        <p:spPr>
          <a:xfrm>
            <a:off x="7219950" y="4038600"/>
            <a:ext cx="4133850" cy="1562100"/>
          </a:xfrm>
          <a:prstGeom prst="roundRect">
            <a:avLst>
              <a:gd name="adj" fmla="val 4878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0A068EDC-369C-4B76-BE55-08EB4AFDCF60}"/>
              </a:ext>
            </a:extLst>
          </p:cNvPr>
          <p:cNvSpPr>
            <a:spLocks noGrp="1"/>
          </p:cNvSpPr>
          <p:nvPr/>
        </p:nvSpPr>
        <p:spPr>
          <a:xfrm>
            <a:off x="7486650" y="4248150"/>
            <a:ext cx="3600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Fixed-T implementations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00473D92-7F2B-478A-A43B-E427083B782E}"/>
              </a:ext>
            </a:extLst>
          </p:cNvPr>
          <p:cNvSpPr>
            <a:spLocks noGrp="1"/>
          </p:cNvSpPr>
          <p:nvPr/>
        </p:nvSpPr>
        <p:spPr>
          <a:xfrm>
            <a:off x="7524750" y="4705350"/>
            <a:ext cx="34861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38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SA / PA: local checkerboard sweeps</a:t>
            </a:r>
          </a:p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38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GA: local, local + global, or periodic retraining</a:t>
            </a:r>
          </a:p>
          <a:p>
            <a:pPr algn="l">
              <a:lnSpc>
                <a:spcPct val="105000"/>
              </a:lnSpc>
              <a:spcAft>
                <a:spcPts val="7"/>
              </a:spcAft>
              <a:buNone/>
              <a:defRPr sz="1238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 2000 global steps; 15 local per global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2BF3D43E-6520-4CCB-8DE4-C44ECBDD2DA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896B0795-EAA1-44CB-AEBB-E541B8FC8FC1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41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20-title-accent">
            <a:extLst>
              <a:ext uri="{FF2B5EF4-FFF2-40B4-BE49-F238E27FC236}">
                <a16:creationId xmlns:a16="http://schemas.microsoft.com/office/drawing/2014/main" id="{B643BD74-EA5F-415D-B366-B4AE8159ACE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20-title">
            <a:extLst>
              <a:ext uri="{FF2B5EF4-FFF2-40B4-BE49-F238E27FC236}">
                <a16:creationId xmlns:a16="http://schemas.microsoft.com/office/drawing/2014/main" id="{6A4A006F-62CC-401B-849D-254A56DE3566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Samplers routes </a:t>
            </a:r>
          </a:p>
        </p:txBody>
      </p:sp>
      <p:sp>
        <p:nvSpPr>
          <p:cNvPr id="3" name="slide-20-topic-background">
            <a:extLst>
              <a:ext uri="{FF2B5EF4-FFF2-40B4-BE49-F238E27FC236}">
                <a16:creationId xmlns:a16="http://schemas.microsoft.com/office/drawing/2014/main" id="{18EAC133-6F22-4F53-81BF-506D21C3E48B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20-topic">
            <a:extLst>
              <a:ext uri="{FF2B5EF4-FFF2-40B4-BE49-F238E27FC236}">
                <a16:creationId xmlns:a16="http://schemas.microsoft.com/office/drawing/2014/main" id="{ADE23C42-ECE0-440A-AC45-03A15F82BC08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6FEA"/>
                </a:solidFill>
                <a:latin typeface="Arial"/>
                <a:ea typeface="Arial"/>
                <a:cs typeface="Arial"/>
              </a:rPr>
              <a:t>FIXED-T SAMPLING</a:t>
            </a:r>
          </a:p>
        </p:txBody>
      </p:sp>
      <p:sp>
        <p:nvSpPr>
          <p:cNvPr id="5" name="slide-20-header-rule">
            <a:extLst>
              <a:ext uri="{FF2B5EF4-FFF2-40B4-BE49-F238E27FC236}">
                <a16:creationId xmlns:a16="http://schemas.microsoft.com/office/drawing/2014/main" id="{7B3CE023-D238-4BF6-B11C-A79C9D6BA41D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20-number">
            <a:extLst>
              <a:ext uri="{FF2B5EF4-FFF2-40B4-BE49-F238E27FC236}">
                <a16:creationId xmlns:a16="http://schemas.microsoft.com/office/drawing/2014/main" id="{89073988-216C-4329-8A1F-64E03F8EA9F4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199D5B9-24A4-4897-BE67-498A4EBD4472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7810500" cy="4819650"/>
          </a:xfrm>
          <a:prstGeom prst="roundRect">
            <a:avLst>
              <a:gd name="adj" fmla="val 1581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21E3E76-42E3-411F-B476-E7BF0F719623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781050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5E0AAC9-94A1-4BB6-B04A-A1356276FD89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7505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RUN_FIXED_TEMPERATURE_SAMPLER · CORE LOOP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E30E1BB-C22B-4AEF-B1CD-F0914D0C09F5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7467600" cy="432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for step in range(1, n_samples + 1):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acc_list = []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if use_ga and sampler_mode in {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"local_global", "local_global_retrain"}: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population, acc_list = MLMC_fast(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model=model, data=population, beta=beta,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N=N, J=J, num_steps=sampler_global_steps)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for _ in range(sampler_local_steps):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population = montecarlo_step(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population, J, T_sample, even_indices, odd_indices)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if sampler_retrain_every is not None             and step % sampler_retrain_every == 0: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model = retrain_made(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model, population, epochs=sampler_retrain_epochs,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batch_size=batch_size)</a:t>
            </a:r>
          </a:p>
          <a:p>
            <a:endParaRPr sz="1200" b="0" i="0">
              <a:solidFill>
                <a:srgbClr val="E7EEF9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energies = observ.update(population, T=T_sample)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q_mean, q_std = _population_two_half_overlap(population)</a:t>
            </a:r>
          </a:p>
          <a:p>
            <a:pPr algn="l">
              <a:lnSpc>
                <a:spcPct val="89000"/>
              </a:lnSpc>
              <a:buNone/>
              <a:def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trace["acc_rate"].append(_mean_acceptance(acc_list))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F76B1DE-F791-4832-B073-3B0FE5EF4E34}"/>
              </a:ext>
            </a:extLst>
          </p:cNvPr>
          <p:cNvSpPr>
            <a:spLocks noGrp="1"/>
          </p:cNvSpPr>
          <p:nvPr/>
        </p:nvSpPr>
        <p:spPr>
          <a:xfrm>
            <a:off x="8763000" y="1504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Routes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4DB1F128-FE11-4BA0-895E-CF95C3F0BA7C}"/>
              </a:ext>
            </a:extLst>
          </p:cNvPr>
          <p:cNvSpPr>
            <a:spLocks noGrp="1"/>
          </p:cNvSpPr>
          <p:nvPr/>
        </p:nvSpPr>
        <p:spPr>
          <a:xfrm>
            <a:off x="8610600" y="2019300"/>
            <a:ext cx="2762250" cy="990600"/>
          </a:xfrm>
          <a:prstGeom prst="roundRect">
            <a:avLst>
              <a:gd name="adj" fmla="val 7692"/>
            </a:avLst>
          </a:prstGeom>
          <a:solidFill>
            <a:srgbClr val="DDF1E3"/>
          </a:solidFill>
          <a:ln w="9525">
            <a:solidFill>
              <a:srgbClr val="A9D8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DE856BF-D1A5-4BC0-8E41-E537C2412CE2}"/>
              </a:ext>
            </a:extLst>
          </p:cNvPr>
          <p:cNvSpPr>
            <a:spLocks noGrp="1"/>
          </p:cNvSpPr>
          <p:nvPr/>
        </p:nvSpPr>
        <p:spPr>
          <a:xfrm>
            <a:off x="8763000" y="2152650"/>
            <a:ext cx="2457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SA / PA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local only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EE0A3017-D8E9-4DD2-94DC-393607227662}"/>
              </a:ext>
            </a:extLst>
          </p:cNvPr>
          <p:cNvSpPr>
            <a:spLocks noGrp="1"/>
          </p:cNvSpPr>
          <p:nvPr/>
        </p:nvSpPr>
        <p:spPr>
          <a:xfrm>
            <a:off x="8610600" y="3238500"/>
            <a:ext cx="2762250" cy="990600"/>
          </a:xfrm>
          <a:prstGeom prst="roundRect">
            <a:avLst>
              <a:gd name="adj" fmla="val 7692"/>
            </a:avLst>
          </a:prstGeom>
          <a:solidFill>
            <a:srgbClr val="DCE7FF"/>
          </a:solidFill>
          <a:ln w="9525">
            <a:solidFill>
              <a:srgbClr val="B8CA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D1F9D80-D2B8-4CDC-B88B-9A5A9F9E3673}"/>
              </a:ext>
            </a:extLst>
          </p:cNvPr>
          <p:cNvSpPr>
            <a:spLocks noGrp="1"/>
          </p:cNvSpPr>
          <p:nvPr/>
        </p:nvSpPr>
        <p:spPr>
          <a:xfrm>
            <a:off x="8763000" y="3371850"/>
            <a:ext cx="2457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GA frozen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local + global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171C632A-5E8E-44D1-960B-3B2969AC92CA}"/>
              </a:ext>
            </a:extLst>
          </p:cNvPr>
          <p:cNvSpPr>
            <a:spLocks noGrp="1"/>
          </p:cNvSpPr>
          <p:nvPr/>
        </p:nvSpPr>
        <p:spPr>
          <a:xfrm>
            <a:off x="8610600" y="44577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EEF4FF"/>
          </a:solidFill>
          <a:ln w="9525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5373A34-5E52-4CD6-840B-61DDCB052646}"/>
              </a:ext>
            </a:extLst>
          </p:cNvPr>
          <p:cNvSpPr>
            <a:spLocks noGrp="1"/>
          </p:cNvSpPr>
          <p:nvPr/>
        </p:nvSpPr>
        <p:spPr>
          <a:xfrm>
            <a:off x="8763000" y="4591050"/>
            <a:ext cx="2457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GA retrained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local + global</a:t>
            </a:r>
          </a:p>
          <a:p>
            <a:pPr algn="ctr">
              <a:lnSpc>
                <a:spcPct val="100000"/>
              </a:lnSpc>
              <a:buNone/>
              <a:defRPr sz="142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 retrain every k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E338164-7ED1-4043-94B0-B1F7110194E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D1E8EA2A-295E-4796-B6DE-2FFDC9AD691C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761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21-title-accent">
            <a:extLst>
              <a:ext uri="{FF2B5EF4-FFF2-40B4-BE49-F238E27FC236}">
                <a16:creationId xmlns:a16="http://schemas.microsoft.com/office/drawing/2014/main" id="{F2F5F34D-8911-47D2-941B-BB926E9C14B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21-title">
            <a:extLst>
              <a:ext uri="{FF2B5EF4-FFF2-40B4-BE49-F238E27FC236}">
                <a16:creationId xmlns:a16="http://schemas.microsoft.com/office/drawing/2014/main" id="{AA94ADA5-09C4-443D-AFCB-505D271CAB6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Energy distribution</a:t>
            </a:r>
          </a:p>
        </p:txBody>
      </p:sp>
      <p:sp>
        <p:nvSpPr>
          <p:cNvPr id="3" name="slide-21-topic-background">
            <a:extLst>
              <a:ext uri="{FF2B5EF4-FFF2-40B4-BE49-F238E27FC236}">
                <a16:creationId xmlns:a16="http://schemas.microsoft.com/office/drawing/2014/main" id="{2DF4D591-BF74-4F6D-975D-B17BF7A5325B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21-topic">
            <a:extLst>
              <a:ext uri="{FF2B5EF4-FFF2-40B4-BE49-F238E27FC236}">
                <a16:creationId xmlns:a16="http://schemas.microsoft.com/office/drawing/2014/main" id="{3720257A-9170-4E39-9BCC-1BE8B82BEDCB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FIXED-T SAMPLING</a:t>
            </a:r>
          </a:p>
        </p:txBody>
      </p:sp>
      <p:sp>
        <p:nvSpPr>
          <p:cNvPr id="5" name="slide-21-header-rule">
            <a:extLst>
              <a:ext uri="{FF2B5EF4-FFF2-40B4-BE49-F238E27FC236}">
                <a16:creationId xmlns:a16="http://schemas.microsoft.com/office/drawing/2014/main" id="{7801EA23-C159-450E-A496-2059A17D9760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21-number">
            <a:extLst>
              <a:ext uri="{FF2B5EF4-FFF2-40B4-BE49-F238E27FC236}">
                <a16:creationId xmlns:a16="http://schemas.microsoft.com/office/drawing/2014/main" id="{2C8CEE25-E213-4CA7-B8C7-B37AAF6AB1A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D52096F-608F-4C15-BF1D-5F3BF288772B}"/>
              </a:ext>
            </a:extLst>
          </p:cNvPr>
          <p:cNvSpPr>
            <a:spLocks noGrp="1"/>
          </p:cNvSpPr>
          <p:nvPr/>
        </p:nvSpPr>
        <p:spPr>
          <a:xfrm>
            <a:off x="8801100" y="15811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T_sample = 0.77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A71F8DF-F9B6-41B9-894E-9C63C7D6DF51}"/>
              </a:ext>
            </a:extLst>
          </p:cNvPr>
          <p:cNvSpPr>
            <a:spLocks noGrp="1"/>
          </p:cNvSpPr>
          <p:nvPr/>
        </p:nvSpPr>
        <p:spPr>
          <a:xfrm>
            <a:off x="8763000" y="2286000"/>
            <a:ext cx="47625" cy="97155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E8E13A4-2A2A-4BEB-A603-A810FE654EED}"/>
              </a:ext>
            </a:extLst>
          </p:cNvPr>
          <p:cNvSpPr>
            <a:spLocks noGrp="1"/>
          </p:cNvSpPr>
          <p:nvPr/>
        </p:nvSpPr>
        <p:spPr>
          <a:xfrm>
            <a:off x="8953500" y="22860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PA ≈ GA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40D9B1B-33E2-4E4B-A1E1-3FEAE4EC3F88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514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Their histograms almost overlap, including the low-energy side.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3ADF91C-F2B6-4F5A-98B9-7B4B6E1CFA74}"/>
              </a:ext>
            </a:extLst>
          </p:cNvPr>
          <p:cNvSpPr>
            <a:spLocks noGrp="1"/>
          </p:cNvSpPr>
          <p:nvPr/>
        </p:nvSpPr>
        <p:spPr>
          <a:xfrm>
            <a:off x="8763000" y="3543300"/>
            <a:ext cx="47625" cy="971550"/>
          </a:xfrm>
          <a:prstGeom prst="rect">
            <a:avLst/>
          </a:prstGeom>
          <a:solidFill>
            <a:srgbClr val="278C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890DD49-2DAD-4701-98E6-B2326E765C5B}"/>
              </a:ext>
            </a:extLst>
          </p:cNvPr>
          <p:cNvSpPr>
            <a:spLocks noGrp="1"/>
          </p:cNvSpPr>
          <p:nvPr/>
        </p:nvSpPr>
        <p:spPr>
          <a:xfrm>
            <a:off x="8953500" y="35433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278C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C4E"/>
                </a:solidFill>
                <a:latin typeface="Arial"/>
                <a:ea typeface="Arial"/>
                <a:cs typeface="Arial"/>
              </a:rPr>
              <a:t>SA is shifted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2F415C7-94E5-4ACD-B193-961C68C9C66B}"/>
              </a:ext>
            </a:extLst>
          </p:cNvPr>
          <p:cNvSpPr>
            <a:spLocks noGrp="1"/>
          </p:cNvSpPr>
          <p:nvPr/>
        </p:nvSpPr>
        <p:spPr>
          <a:xfrm>
            <a:off x="8953500" y="3867150"/>
            <a:ext cx="2514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SA population is broader and displaced toward higher energy.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B02CC4D1-A44D-494B-9DDF-4FCA92330DDD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C9AB25C-5324-48B7-B373-AF684AFEDA78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Immagin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9" y="1508103"/>
            <a:ext cx="8404104" cy="471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8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-22-title-accent">
            <a:extLst>
              <a:ext uri="{FF2B5EF4-FFF2-40B4-BE49-F238E27FC236}">
                <a16:creationId xmlns:a16="http://schemas.microsoft.com/office/drawing/2014/main" id="{3A6FA8AA-2927-42E9-8609-1154BFF6EEE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22-title">
            <a:extLst>
              <a:ext uri="{FF2B5EF4-FFF2-40B4-BE49-F238E27FC236}">
                <a16:creationId xmlns:a16="http://schemas.microsoft.com/office/drawing/2014/main" id="{6671DE07-D595-45DD-92C2-48D3282C1AC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Overlap</a:t>
            </a:r>
          </a:p>
        </p:txBody>
      </p:sp>
      <p:sp>
        <p:nvSpPr>
          <p:cNvPr id="3" name="slide-22-topic-background">
            <a:extLst>
              <a:ext uri="{FF2B5EF4-FFF2-40B4-BE49-F238E27FC236}">
                <a16:creationId xmlns:a16="http://schemas.microsoft.com/office/drawing/2014/main" id="{F2F2390D-27F2-4F1C-AB8D-9B7749EB1D4A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22-topic">
            <a:extLst>
              <a:ext uri="{FF2B5EF4-FFF2-40B4-BE49-F238E27FC236}">
                <a16:creationId xmlns:a16="http://schemas.microsoft.com/office/drawing/2014/main" id="{702AAA0E-802E-4295-880A-62BDD09CE8AA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6FEA"/>
                </a:solidFill>
                <a:latin typeface="Arial"/>
                <a:ea typeface="Arial"/>
                <a:cs typeface="Arial"/>
              </a:rPr>
              <a:t>FIXED-T SAMPLING</a:t>
            </a:r>
          </a:p>
        </p:txBody>
      </p:sp>
      <p:sp>
        <p:nvSpPr>
          <p:cNvPr id="5" name="slide-22-header-rule">
            <a:extLst>
              <a:ext uri="{FF2B5EF4-FFF2-40B4-BE49-F238E27FC236}">
                <a16:creationId xmlns:a16="http://schemas.microsoft.com/office/drawing/2014/main" id="{34F9308F-CA9D-4436-ACAB-C24BCAFB21A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22-number">
            <a:extLst>
              <a:ext uri="{FF2B5EF4-FFF2-40B4-BE49-F238E27FC236}">
                <a16:creationId xmlns:a16="http://schemas.microsoft.com/office/drawing/2014/main" id="{103C96A8-2C76-4D35-B8DE-207ED47AE3B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2E2A5B37-523C-4DCE-8D8D-62944F87CB1E}"/>
              </a:ext>
            </a:extLst>
          </p:cNvPr>
          <p:cNvSpPr>
            <a:spLocks noGrp="1"/>
          </p:cNvSpPr>
          <p:nvPr/>
        </p:nvSpPr>
        <p:spPr>
          <a:xfrm>
            <a:off x="666750" y="1409700"/>
            <a:ext cx="10858500" cy="742950"/>
          </a:xfrm>
          <a:prstGeom prst="roundRect">
            <a:avLst>
              <a:gd name="adj" fmla="val 10256"/>
            </a:avLst>
          </a:prstGeom>
          <a:solidFill>
            <a:srgbClr val="DCE7FF"/>
          </a:solidFill>
          <a:ln w="9525">
            <a:solidFill>
              <a:srgbClr val="BDD0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2547BA4-1CB2-4917-B7E3-3B791EA423DB}"/>
              </a:ext>
            </a:extLst>
          </p:cNvPr>
          <p:cNvSpPr>
            <a:spLocks noGrp="1"/>
          </p:cNvSpPr>
          <p:nvPr/>
        </p:nvSpPr>
        <p:spPr>
          <a:xfrm>
            <a:off x="857250" y="15049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3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q_ab = (1/N) Σᵢ sᵢᵃ sᵢᵇ  ∈ [−1,1]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2DAF18B-88F5-46F4-BD4F-C112CD4FA5D4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1676400" cy="1219200"/>
          </a:xfrm>
          <a:prstGeom prst="roundRect">
            <a:avLst>
              <a:gd name="adj" fmla="val 6250"/>
            </a:avLst>
          </a:prstGeom>
          <a:solidFill>
            <a:srgbClr val="F6DDDD"/>
          </a:solidFill>
          <a:ln w="9525">
            <a:solidFill>
              <a:srgbClr val="C431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D9EDECE-8465-4FFD-9B94-6EA4C1531625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C4313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43131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722DE94-1E80-4E7E-B974-9502A16D593F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global spin flip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CE728009-5D88-47D5-80AD-FAAA9E7E4F20}"/>
              </a:ext>
            </a:extLst>
          </p:cNvPr>
          <p:cNvSpPr>
            <a:spLocks noGrp="1"/>
          </p:cNvSpPr>
          <p:nvPr/>
        </p:nvSpPr>
        <p:spPr>
          <a:xfrm>
            <a:off x="2705100" y="2686050"/>
            <a:ext cx="1676400" cy="1219200"/>
          </a:xfrm>
          <a:prstGeom prst="roundRect">
            <a:avLst>
              <a:gd name="adj" fmla="val 6250"/>
            </a:avLst>
          </a:prstGeom>
          <a:solidFill>
            <a:srgbClr val="F2F3F5"/>
          </a:solidFill>
          <a:ln w="952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A804EE5-9EC0-4F5F-8AD4-F05F96E375C4}"/>
              </a:ext>
            </a:extLst>
          </p:cNvPr>
          <p:cNvSpPr>
            <a:spLocks noGrp="1"/>
          </p:cNvSpPr>
          <p:nvPr/>
        </p:nvSpPr>
        <p:spPr>
          <a:xfrm>
            <a:off x="2876550" y="281940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F58B9D2-C629-43A5-AD9A-61623D3C45AA}"/>
              </a:ext>
            </a:extLst>
          </p:cNvPr>
          <p:cNvSpPr>
            <a:spLocks noGrp="1"/>
          </p:cNvSpPr>
          <p:nvPr/>
        </p:nvSpPr>
        <p:spPr>
          <a:xfrm>
            <a:off x="2857500" y="33718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uncorrelated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EF9EB9BC-60BD-4BA9-9765-9B6854465E96}"/>
              </a:ext>
            </a:extLst>
          </p:cNvPr>
          <p:cNvSpPr>
            <a:spLocks noGrp="1"/>
          </p:cNvSpPr>
          <p:nvPr/>
        </p:nvSpPr>
        <p:spPr>
          <a:xfrm>
            <a:off x="4686300" y="2686050"/>
            <a:ext cx="1676400" cy="1219200"/>
          </a:xfrm>
          <a:prstGeom prst="roundRect">
            <a:avLst>
              <a:gd name="adj" fmla="val 6250"/>
            </a:avLst>
          </a:prstGeom>
          <a:solidFill>
            <a:srgbClr val="DCE7FF"/>
          </a:solidFill>
          <a:ln w="9525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E4F8482-CBB7-4D0F-BB75-FEBF48355D1B}"/>
              </a:ext>
            </a:extLst>
          </p:cNvPr>
          <p:cNvSpPr>
            <a:spLocks noGrp="1"/>
          </p:cNvSpPr>
          <p:nvPr/>
        </p:nvSpPr>
        <p:spPr>
          <a:xfrm>
            <a:off x="4857750" y="281940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ABC49F13-767A-4C16-AA4B-1F77CDA03EA2}"/>
              </a:ext>
            </a:extLst>
          </p:cNvPr>
          <p:cNvSpPr>
            <a:spLocks noGrp="1"/>
          </p:cNvSpPr>
          <p:nvPr/>
        </p:nvSpPr>
        <p:spPr>
          <a:xfrm>
            <a:off x="4838700" y="337185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identical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FB69854-ABA3-432B-A9B5-65B400905721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Same J · independent replicas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7F4789F-B837-4031-89FB-0E6040642D4C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518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Pair the two halves of the population</a:t>
            </a:r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429ACD42-73BC-47E2-A5DE-183D84AF5F76}"/>
              </a:ext>
            </a:extLst>
          </p:cNvPr>
          <p:cNvSpPr>
            <a:spLocks noGrp="1"/>
          </p:cNvSpPr>
          <p:nvPr/>
        </p:nvSpPr>
        <p:spPr>
          <a:xfrm>
            <a:off x="3324225" y="5514975"/>
            <a:ext cx="228600" cy="228600"/>
          </a:xfrm>
          <a:prstGeom prst="rightArrow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0BF7B9AF-299D-4616-A766-8CA5DC0CDBE0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2266950" cy="590550"/>
          </a:xfrm>
          <a:prstGeom prst="roundRect">
            <a:avLst>
              <a:gd name="adj" fmla="val 12903"/>
            </a:avLst>
          </a:prstGeom>
          <a:solidFill>
            <a:srgbClr val="F2F3F5"/>
          </a:solidFill>
          <a:ln w="11430">
            <a:solidFill>
              <a:srgbClr val="C8CD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67884F5-9500-4D1B-8936-03DAB628D68A}"/>
              </a:ext>
            </a:extLst>
          </p:cNvPr>
          <p:cNvSpPr>
            <a:spLocks noGrp="1"/>
          </p:cNvSpPr>
          <p:nvPr/>
        </p:nvSpPr>
        <p:spPr>
          <a:xfrm>
            <a:off x="1123950" y="5505450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replicas 1…M/2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672B093C-6028-4FD6-97EA-5CD981DF132F}"/>
              </a:ext>
            </a:extLst>
          </p:cNvPr>
          <p:cNvSpPr>
            <a:spLocks noGrp="1"/>
          </p:cNvSpPr>
          <p:nvPr/>
        </p:nvSpPr>
        <p:spPr>
          <a:xfrm>
            <a:off x="3657600" y="5334000"/>
            <a:ext cx="2266950" cy="590550"/>
          </a:xfrm>
          <a:prstGeom prst="roundRect">
            <a:avLst>
              <a:gd name="adj" fmla="val 12903"/>
            </a:avLst>
          </a:prstGeom>
          <a:solidFill>
            <a:srgbClr val="DCE7FF"/>
          </a:solidFill>
          <a:ln w="11430">
            <a:solidFill>
              <a:srgbClr val="3D6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68B9569A-A3C8-4B1D-9658-6986644A30BD}"/>
              </a:ext>
            </a:extLst>
          </p:cNvPr>
          <p:cNvSpPr>
            <a:spLocks noGrp="1"/>
          </p:cNvSpPr>
          <p:nvPr/>
        </p:nvSpPr>
        <p:spPr>
          <a:xfrm>
            <a:off x="3829050" y="5505450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replicas M/2+1…M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65148BA3-8D1A-41B9-BBD1-599A65C01424}"/>
              </a:ext>
            </a:extLst>
          </p:cNvPr>
          <p:cNvSpPr>
            <a:spLocks noGrp="1"/>
          </p:cNvSpPr>
          <p:nvPr/>
        </p:nvSpPr>
        <p:spPr>
          <a:xfrm>
            <a:off x="6705600" y="2686050"/>
            <a:ext cx="4819650" cy="3238500"/>
          </a:xfrm>
          <a:prstGeom prst="roundRect">
            <a:avLst>
              <a:gd name="adj" fmla="val 2353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F6978A9-333D-499B-9DA8-8C0CBD770C65}"/>
              </a:ext>
            </a:extLst>
          </p:cNvPr>
          <p:cNvSpPr>
            <a:spLocks noGrp="1"/>
          </p:cNvSpPr>
          <p:nvPr/>
        </p:nvSpPr>
        <p:spPr>
          <a:xfrm>
            <a:off x="6705600" y="2686050"/>
            <a:ext cx="4819650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D17090A8-4A6C-4874-8D6E-4AAD4A69BC60}"/>
              </a:ext>
            </a:extLst>
          </p:cNvPr>
          <p:cNvSpPr>
            <a:spLocks noGrp="1"/>
          </p:cNvSpPr>
          <p:nvPr/>
        </p:nvSpPr>
        <p:spPr>
          <a:xfrm>
            <a:off x="6858000" y="2733675"/>
            <a:ext cx="4514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_POPULATION_TWO_HALF_OVERLAP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D67630B7-CA8E-4730-8E7D-EF43E8CAD032}"/>
              </a:ext>
            </a:extLst>
          </p:cNvPr>
          <p:cNvSpPr>
            <a:spLocks noGrp="1"/>
          </p:cNvSpPr>
          <p:nvPr/>
        </p:nvSpPr>
        <p:spPr>
          <a:xfrm>
            <a:off x="6877050" y="3067050"/>
            <a:ext cx="4476750" cy="274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def _population_two_half_overlap(population):</a:t>
            </a:r>
          </a:p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half = population.shape[0] // 2</a:t>
            </a:r>
          </a:p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first = population[:half]</a:t>
            </a:r>
          </a:p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second = population[half:2 * half]</a:t>
            </a:r>
          </a:p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q = (first * second).sum(dim=1)</a:t>
            </a:r>
          </a:p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q = q / population.shape[1]</a:t>
            </a:r>
          </a:p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return (float(q.mean().item()),</a:t>
            </a:r>
          </a:p>
          <a:p>
            <a:pPr algn="l">
              <a:lnSpc>
                <a:spcPct val="94000"/>
              </a:lnSpc>
              <a:buNone/>
              <a:def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7EEF9"/>
                </a:solidFill>
                <a:latin typeface="Consolas"/>
                <a:ea typeface="Consolas"/>
                <a:cs typeface="Consolas"/>
              </a:rPr>
              <a:t>            float(q.std().item()))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3B749EC5-BB9D-4816-9BF2-11D54F4EF996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D0C8CCF3-8408-46AC-A2DA-3A0F041F8890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2268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23-title-accent">
            <a:extLst>
              <a:ext uri="{FF2B5EF4-FFF2-40B4-BE49-F238E27FC236}">
                <a16:creationId xmlns:a16="http://schemas.microsoft.com/office/drawing/2014/main" id="{2E2BC677-6D47-4EA5-BDB6-C171649918D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23-title">
            <a:extLst>
              <a:ext uri="{FF2B5EF4-FFF2-40B4-BE49-F238E27FC236}">
                <a16:creationId xmlns:a16="http://schemas.microsoft.com/office/drawing/2014/main" id="{72584229-5233-4B43-AEA7-E733EA59D823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Overlap results</a:t>
            </a:r>
          </a:p>
        </p:txBody>
      </p:sp>
      <p:sp>
        <p:nvSpPr>
          <p:cNvPr id="3" name="slide-23-topic-background">
            <a:extLst>
              <a:ext uri="{FF2B5EF4-FFF2-40B4-BE49-F238E27FC236}">
                <a16:creationId xmlns:a16="http://schemas.microsoft.com/office/drawing/2014/main" id="{CB6C7970-4386-4BE4-9285-54EF82070BB5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23-topic">
            <a:extLst>
              <a:ext uri="{FF2B5EF4-FFF2-40B4-BE49-F238E27FC236}">
                <a16:creationId xmlns:a16="http://schemas.microsoft.com/office/drawing/2014/main" id="{E2995207-0E28-40B8-B7F4-20857A7A892A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FIXED-T SAMPLING</a:t>
            </a:r>
          </a:p>
        </p:txBody>
      </p:sp>
      <p:sp>
        <p:nvSpPr>
          <p:cNvPr id="5" name="slide-23-header-rule">
            <a:extLst>
              <a:ext uri="{FF2B5EF4-FFF2-40B4-BE49-F238E27FC236}">
                <a16:creationId xmlns:a16="http://schemas.microsoft.com/office/drawing/2014/main" id="{97A3B84A-A932-4F39-ABCC-9DCE6F3B2A5A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23-number">
            <a:extLst>
              <a:ext uri="{FF2B5EF4-FFF2-40B4-BE49-F238E27FC236}">
                <a16:creationId xmlns:a16="http://schemas.microsoft.com/office/drawing/2014/main" id="{48E3B36D-2388-4C5C-91E4-87349307A538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23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87474D6-0604-45A0-B0B5-7F32149DEA82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D1C84A4-FBFD-456A-B5D8-63DFD44511C7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magine 23"/>
          <p:cNvPicPr>
            <a:picLocks noChangeAspect="1"/>
          </p:cNvPicPr>
          <p:nvPr/>
        </p:nvPicPr>
        <p:blipFill>
          <a:blip r:embed="rId3"/>
          <a:srcRect t="9185" r="49017"/>
          <a:stretch>
            <a:fillRect/>
          </a:stretch>
        </p:blipFill>
        <p:spPr>
          <a:xfrm>
            <a:off x="1627861" y="1201147"/>
            <a:ext cx="8669577" cy="2552243"/>
          </a:xfrm>
          <a:prstGeom prst="rect">
            <a:avLst/>
          </a:prstGeom>
        </p:spPr>
      </p:pic>
      <p:pic>
        <p:nvPicPr>
          <p:cNvPr id="32" name="Immagine 25"/>
          <p:cNvPicPr>
            <a:picLocks noChangeAspect="1"/>
          </p:cNvPicPr>
          <p:nvPr/>
        </p:nvPicPr>
        <p:blipFill>
          <a:blip r:embed="rId3"/>
          <a:srcRect l="51008" t="11672"/>
          <a:stretch>
            <a:fillRect/>
          </a:stretch>
        </p:blipFill>
        <p:spPr>
          <a:xfrm>
            <a:off x="1835559" y="3790446"/>
            <a:ext cx="8520881" cy="25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44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25-title-accent">
            <a:extLst>
              <a:ext uri="{FF2B5EF4-FFF2-40B4-BE49-F238E27FC236}">
                <a16:creationId xmlns:a16="http://schemas.microsoft.com/office/drawing/2014/main" id="{174579FE-1510-4958-9F78-1B3EAE49D74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25-title">
            <a:extLst>
              <a:ext uri="{FF2B5EF4-FFF2-40B4-BE49-F238E27FC236}">
                <a16:creationId xmlns:a16="http://schemas.microsoft.com/office/drawing/2014/main" id="{0210721F-E4C6-4FF1-8B95-4E043B9CCDB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 fontScale="96858"/>
          </a:bodyPr>
          <a:lstStyle/>
          <a:p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Acceptance rate</a:t>
            </a:r>
          </a:p>
        </p:txBody>
      </p:sp>
      <p:sp>
        <p:nvSpPr>
          <p:cNvPr id="3" name="slide-25-topic-background">
            <a:extLst>
              <a:ext uri="{FF2B5EF4-FFF2-40B4-BE49-F238E27FC236}">
                <a16:creationId xmlns:a16="http://schemas.microsoft.com/office/drawing/2014/main" id="{38204905-0215-4935-A2BE-A2E91DEEAC13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lide-25-header-rule">
            <a:extLst>
              <a:ext uri="{FF2B5EF4-FFF2-40B4-BE49-F238E27FC236}">
                <a16:creationId xmlns:a16="http://schemas.microsoft.com/office/drawing/2014/main" id="{12144577-647C-4E0A-AE89-CB5EEAAC8933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25-number">
            <a:extLst>
              <a:ext uri="{FF2B5EF4-FFF2-40B4-BE49-F238E27FC236}">
                <a16:creationId xmlns:a16="http://schemas.microsoft.com/office/drawing/2014/main" id="{FCD9F1ED-69B8-47CB-979A-CAA8E973A006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24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1E86655C-0F4E-448A-A774-A873FF35D7A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7756D61C-339D-418B-B648-D664DBFF6803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lide-24-topic-rebuilt">
            <a:extLst>
              <a:ext uri="{FF2B5EF4-FFF2-40B4-BE49-F238E27FC236}">
                <a16:creationId xmlns:a16="http://schemas.microsoft.com/office/drawing/2014/main" id="{4535408E-2B5E-4247-B25A-7A90B3C0468A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1">
                <a:solidFill>
                  <a:srgbClr val="3D6FEA"/>
                </a:solidFill>
              </a:defRPr>
            </a:pPr>
            <a:r>
              <a:rPr sz="1200" b="1">
                <a:solidFill>
                  <a:srgbClr val="3D6FEA"/>
                </a:solidFill>
              </a:rPr>
              <a:t>FIXED-T SAMPLING</a:t>
            </a:r>
          </a:p>
        </p:txBody>
      </p:sp>
      <p:pic>
        <p:nvPicPr>
          <p:cNvPr id="36" name="Immagin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35" y="1219268"/>
            <a:ext cx="8935679" cy="512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05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-6-title-accent">
            <a:extLst>
              <a:ext uri="{FF2B5EF4-FFF2-40B4-BE49-F238E27FC236}">
                <a16:creationId xmlns:a16="http://schemas.microsoft.com/office/drawing/2014/main" id="{8FC870AC-64C6-4263-BF38-B04C42ABACF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6-title">
            <a:extLst>
              <a:ext uri="{FF2B5EF4-FFF2-40B4-BE49-F238E27FC236}">
                <a16:creationId xmlns:a16="http://schemas.microsoft.com/office/drawing/2014/main" id="{B2DCF06C-72C9-4CF0-9A17-2F6CB593A6E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239250" cy="685800"/>
          </a:xfrm>
          <a:prstGeom prst="rect">
            <a:avLst/>
          </a:prstGeom>
        </p:spPr>
        <p:txBody>
          <a:bodyPr lIns="0" tIns="0" rIns="0" bIns="0" anchor="ctr">
            <a:normAutofit fontScale="92500"/>
          </a:bodyPr>
          <a:lstStyle/>
          <a:p>
            <a:pPr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SK model</a:t>
            </a:r>
            <a:r>
              <a:rPr lang="it-IT" dirty="0"/>
              <a:t> (</a:t>
            </a:r>
            <a:r>
              <a:rPr lang="it-IT" sz="2850" b="1" dirty="0"/>
              <a:t>Sherrington-Kirkpatrick</a:t>
            </a:r>
            <a:r>
              <a:rPr lang="it-IT" dirty="0"/>
              <a:t>) &amp; Monte Carlo</a:t>
            </a:r>
            <a:r>
              <a:rPr dirty="0"/>
              <a:t> update</a:t>
            </a:r>
          </a:p>
        </p:txBody>
      </p:sp>
      <p:sp>
        <p:nvSpPr>
          <p:cNvPr id="3" name="slide-6-topic-background">
            <a:extLst>
              <a:ext uri="{FF2B5EF4-FFF2-40B4-BE49-F238E27FC236}">
                <a16:creationId xmlns:a16="http://schemas.microsoft.com/office/drawing/2014/main" id="{25E9DB5C-C9B8-4651-BB75-04F0BA594608}"/>
              </a:ext>
            </a:extLst>
          </p:cNvPr>
          <p:cNvSpPr>
            <a:spLocks noGrp="1"/>
          </p:cNvSpPr>
          <p:nvPr/>
        </p:nvSpPr>
        <p:spPr>
          <a:xfrm>
            <a:off x="10186219" y="266700"/>
            <a:ext cx="1672406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6-topic">
            <a:extLst>
              <a:ext uri="{FF2B5EF4-FFF2-40B4-BE49-F238E27FC236}">
                <a16:creationId xmlns:a16="http://schemas.microsoft.com/office/drawing/2014/main" id="{242C42B3-223E-423E-8793-90EBB03CFE97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6FEA"/>
                </a:solidFill>
                <a:latin typeface="Arial"/>
                <a:ea typeface="Arial"/>
                <a:cs typeface="Arial"/>
              </a:rPr>
              <a:t>SK MODEL</a:t>
            </a:r>
          </a:p>
        </p:txBody>
      </p:sp>
      <p:sp>
        <p:nvSpPr>
          <p:cNvPr id="5" name="slide-6-header-rule">
            <a:extLst>
              <a:ext uri="{FF2B5EF4-FFF2-40B4-BE49-F238E27FC236}">
                <a16:creationId xmlns:a16="http://schemas.microsoft.com/office/drawing/2014/main" id="{0B64DFB2-1891-449C-88DA-7F05AF4597AA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6-number">
            <a:extLst>
              <a:ext uri="{FF2B5EF4-FFF2-40B4-BE49-F238E27FC236}">
                <a16:creationId xmlns:a16="http://schemas.microsoft.com/office/drawing/2014/main" id="{BD8F9009-22BB-44ED-80F3-D5052445C7D8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464789B-FCF2-4724-B38F-83E5FF315229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6334125" cy="4762500"/>
          </a:xfrm>
          <a:prstGeom prst="roundRect">
            <a:avLst>
              <a:gd name="adj" fmla="val 1600"/>
            </a:avLst>
          </a:prstGeom>
          <a:solidFill>
            <a:srgbClr val="101827"/>
          </a:solidFill>
          <a:ln w="9525">
            <a:solidFill>
              <a:srgbClr val="263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0E7C75-BFE4-411F-8FBB-B196A4B20D7C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6334125" cy="266700"/>
          </a:xfrm>
          <a:prstGeom prst="rect">
            <a:avLst/>
          </a:prstGeom>
          <a:solidFill>
            <a:srgbClr val="1724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49A7465-E544-4429-9D50-01B19320E3EB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6029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MONTECARLO_STEP_SK · SEQUENTIAL METROPOLIS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77743E1-B444-4957-8C8A-5C434DCFA95C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5991225" cy="426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montecarlo_step_sk(population, J, T):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population = population.clone()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pop_size, N = population.shape</a:t>
            </a:r>
          </a:p>
          <a:p>
            <a:pPr algn="l">
              <a:defRPr sz="1065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device = population.device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local_fields = population @ J.T</a:t>
            </a:r>
          </a:p>
          <a:p>
            <a:pPr algn="l">
              <a:lnSpc>
                <a:spcPct val="95000"/>
              </a:lnSpc>
              <a:buNone/>
              <a:defRPr sz="112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065" b="0" i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i in torch.randperm(N, device=device):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old_spin = population[:, i].clone()</a:t>
            </a:r>
          </a:p>
          <a:p>
            <a:pPr algn="l">
              <a:buNone/>
              <a:defRPr sz="1065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delta_E = 2.0 * old_spin * local_fields[:, i]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log_u = torch.log(torch.rand(pop_size, device=device))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accepted = log_u &lt; (-delta_E / T)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population[accepted, i] *= -1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if accepted.any():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local_fields[accepted] -= (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2.0 * old_spin[accepted, None]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* J[:, i][None, :])</a:t>
            </a:r>
          </a:p>
          <a:p>
            <a:pPr algn="l">
              <a:lnSpc>
                <a:spcPct val="95000"/>
              </a:lnSpc>
              <a:buNone/>
              <a:def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065" b="0" i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population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D9CE19C-3567-4481-B464-4034EC6584F0}"/>
              </a:ext>
            </a:extLst>
          </p:cNvPr>
          <p:cNvSpPr>
            <a:spLocks noGrp="1"/>
          </p:cNvSpPr>
          <p:nvPr/>
        </p:nvSpPr>
        <p:spPr>
          <a:xfrm>
            <a:off x="7477125" y="15240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Hₛₖ(s) = −∑ᵢ&lt;ⱼ Jᵢⱼ sᵢ sⱼ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35669EEC-F5FE-4737-BD5F-D26DF5A8FC85}"/>
              </a:ext>
            </a:extLst>
          </p:cNvPr>
          <p:cNvSpPr>
            <a:spLocks noGrp="1"/>
          </p:cNvSpPr>
          <p:nvPr/>
        </p:nvSpPr>
        <p:spPr>
          <a:xfrm>
            <a:off x="7524750" y="45910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6FEA"/>
                </a:solidFill>
                <a:latin typeface="Arial"/>
                <a:ea typeface="Arial"/>
                <a:cs typeface="Arial"/>
              </a:rPr>
              <a:t>SK: mean field</a:t>
            </a:r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924D0E35-F3F3-4EE7-930A-217DB5CD6A30}"/>
              </a:ext>
            </a:extLst>
          </p:cNvPr>
          <p:cNvSpPr>
            <a:spLocks noGrp="1"/>
          </p:cNvSpPr>
          <p:nvPr/>
        </p:nvSpPr>
        <p:spPr>
          <a:xfrm>
            <a:off x="7524750" y="49149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 − 1 neighbours</a:t>
            </a:r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E6EFAB13-DDB8-4878-95B1-4DF952E17E57}"/>
              </a:ext>
            </a:extLst>
          </p:cNvPr>
          <p:cNvSpPr>
            <a:spLocks noGrp="1"/>
          </p:cNvSpPr>
          <p:nvPr/>
        </p:nvSpPr>
        <p:spPr>
          <a:xfrm>
            <a:off x="9810750" y="45910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EA: lattice</a:t>
            </a: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888EF38A-6412-4176-B823-9DA9221D2C47}"/>
              </a:ext>
            </a:extLst>
          </p:cNvPr>
          <p:cNvSpPr>
            <a:spLocks noGrp="1"/>
          </p:cNvSpPr>
          <p:nvPr/>
        </p:nvSpPr>
        <p:spPr>
          <a:xfrm>
            <a:off x="9810750" y="49149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 </a:t>
            </a:r>
            <a:r>
              <a:rPr sz="1200" b="0" i="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neighbours</a:t>
            </a:r>
            <a:endParaRPr sz="1200" b="0" i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6EE84241-CDE1-4CEB-99D5-406794430F7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68731FE3-8582-4471-899A-3FD2155EAE1F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8" name="Immagine 10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67793" y="2247900"/>
            <a:ext cx="2142663" cy="214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9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21-title-accent">
            <a:extLst>
              <a:ext uri="{FF2B5EF4-FFF2-40B4-BE49-F238E27FC236}">
                <a16:creationId xmlns:a16="http://schemas.microsoft.com/office/drawing/2014/main" id="{F2F5F34D-8911-47D2-941B-BB926E9C14B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7150" cy="609600"/>
          </a:xfrm>
          <a:prstGeom prst="rect">
            <a:avLst/>
          </a:prstGeom>
          <a:solidFill>
            <a:srgbClr val="3D6F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21-title">
            <a:extLst>
              <a:ext uri="{FF2B5EF4-FFF2-40B4-BE49-F238E27FC236}">
                <a16:creationId xmlns:a16="http://schemas.microsoft.com/office/drawing/2014/main" id="{AA94ADA5-09C4-443D-AFCB-505D271CAB6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8572500" cy="6858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SK model: results</a:t>
            </a:r>
          </a:p>
        </p:txBody>
      </p:sp>
      <p:sp>
        <p:nvSpPr>
          <p:cNvPr id="3" name="slide-21-topic-background">
            <a:extLst>
              <a:ext uri="{FF2B5EF4-FFF2-40B4-BE49-F238E27FC236}">
                <a16:creationId xmlns:a16="http://schemas.microsoft.com/office/drawing/2014/main" id="{2DF4D591-BF74-4F6D-975D-B17BF7A5325B}"/>
              </a:ext>
            </a:extLst>
          </p:cNvPr>
          <p:cNvSpPr>
            <a:spLocks noGrp="1"/>
          </p:cNvSpPr>
          <p:nvPr/>
        </p:nvSpPr>
        <p:spPr>
          <a:xfrm>
            <a:off x="9144000" y="266700"/>
            <a:ext cx="2714625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lide-21-topic">
            <a:extLst>
              <a:ext uri="{FF2B5EF4-FFF2-40B4-BE49-F238E27FC236}">
                <a16:creationId xmlns:a16="http://schemas.microsoft.com/office/drawing/2014/main" id="{3720257A-9170-4E39-9BCC-1BE8B82BEDCB}"/>
              </a:ext>
            </a:extLst>
          </p:cNvPr>
          <p:cNvSpPr>
            <a:spLocks noGrp="1"/>
          </p:cNvSpPr>
          <p:nvPr/>
        </p:nvSpPr>
        <p:spPr>
          <a:xfrm>
            <a:off x="9191625" y="438150"/>
            <a:ext cx="2571750" cy="28575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163" b="1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t>SK MODEL</a:t>
            </a:r>
          </a:p>
        </p:txBody>
      </p:sp>
      <p:sp>
        <p:nvSpPr>
          <p:cNvPr id="5" name="slide-21-header-rule">
            <a:extLst>
              <a:ext uri="{FF2B5EF4-FFF2-40B4-BE49-F238E27FC236}">
                <a16:creationId xmlns:a16="http://schemas.microsoft.com/office/drawing/2014/main" id="{7801EA23-C159-450E-A496-2059A17D9760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14288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lide-21-number">
            <a:extLst>
              <a:ext uri="{FF2B5EF4-FFF2-40B4-BE49-F238E27FC236}">
                <a16:creationId xmlns:a16="http://schemas.microsoft.com/office/drawing/2014/main" id="{2C8CEE25-E213-4CA7-B8C7-B37AAF6AB1A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476250" cy="171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9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26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D52096F-608F-4C15-BF1D-5F3BF288772B}"/>
              </a:ext>
            </a:extLst>
          </p:cNvPr>
          <p:cNvSpPr>
            <a:spLocks noGrp="1"/>
          </p:cNvSpPr>
          <p:nvPr/>
        </p:nvSpPr>
        <p:spPr>
          <a:xfrm>
            <a:off x="8801100" y="1581150"/>
            <a:ext cx="2571750" cy="2007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3D6FEA"/>
                </a:solidFill>
                <a:latin typeface="Arial"/>
                <a:ea typeface="Arial"/>
                <a:cs typeface="Arial"/>
              </a:rPr>
              <a:t>N = 512 · one disorder instance</a:t>
            </a:r>
            <a:r>
              <a:rPr lang="it-IT" sz="1950" b="1" i="0" dirty="0">
                <a:solidFill>
                  <a:srgbClr val="3D6FEA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ctr">
              <a:lnSpc>
                <a:spcPct val="100000"/>
              </a:lnSpc>
              <a:buNone/>
              <a:defRPr sz="19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endParaRPr lang="it-IT" sz="1950" b="1" dirty="0">
              <a:solidFill>
                <a:srgbClr val="3D6FEA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00000"/>
              </a:lnSpc>
              <a:buNone/>
              <a:defRPr sz="1950" b="1" i="0">
                <a:solidFill>
                  <a:srgbClr val="3D6FEA"/>
                </a:solidFill>
                <a:latin typeface="Arial"/>
                <a:ea typeface="Arial"/>
                <a:cs typeface="Arial"/>
              </a:defRPr>
            </a:pPr>
            <a:r>
              <a:rPr lang="it-IT" sz="1950" b="1" dirty="0" err="1">
                <a:solidFill>
                  <a:srgbClr val="3D6FEA"/>
                </a:solidFill>
                <a:latin typeface="Arial"/>
                <a:ea typeface="Arial"/>
                <a:cs typeface="Arial"/>
              </a:rPr>
              <a:t>Population</a:t>
            </a:r>
            <a:r>
              <a:rPr lang="it-IT" sz="1950" b="1" dirty="0">
                <a:solidFill>
                  <a:srgbClr val="3D6FEA"/>
                </a:solidFill>
                <a:latin typeface="Arial"/>
                <a:ea typeface="Arial"/>
                <a:cs typeface="Arial"/>
              </a:rPr>
              <a:t> = 4096</a:t>
            </a:r>
            <a:endParaRPr sz="1950" b="1" i="0" dirty="0">
              <a:solidFill>
                <a:srgbClr val="3D6FE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B02CC4D1-A44D-494B-9DDF-4FCA92330DDD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11252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C9AB25C-5324-48B7-B373-AF684AFEDA78}"/>
              </a:ext>
            </a:extLst>
          </p:cNvPr>
          <p:cNvSpPr>
            <a:spLocks noGrp="1"/>
          </p:cNvSpPr>
          <p:nvPr/>
        </p:nvSpPr>
        <p:spPr>
          <a:xfrm>
            <a:off x="400050" y="6400800"/>
            <a:ext cx="10839450" cy="9525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Immagin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3604" y="1381125"/>
            <a:ext cx="7149142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885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3105</Words>
  <Application>Microsoft Office PowerPoint</Application>
  <DocSecurity>0</DocSecurity>
  <PresentationFormat>Widescreen</PresentationFormat>
  <Paragraphs>570</Paragraphs>
  <Slides>27</Slides>
  <Notes>27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Flavio Massimiliano Ricci</cp:lastModifiedBy>
  <cp:revision>9</cp:revision>
  <dcterms:created xsi:type="dcterms:W3CDTF">2026-07-16T17:51:34Z</dcterms:created>
  <dcterms:modified xsi:type="dcterms:W3CDTF">2026-10-29T21:30:44Z</dcterms:modified>
</cp:coreProperties>
</file>